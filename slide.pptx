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_x16.xml" ContentType="application/vnd.openxmlformats-officedocument.presentationml.slide+xml"/>
  <Override PartName="/ppt/slides/slide_x17.xml" ContentType="application/vnd.openxmlformats-officedocument.presentationml.slide+xml"/>
  <Override PartName="/ppt/slides/slide_x18.xml" ContentType="application/vnd.openxmlformats-officedocument.presentationml.slide+xml"/>
  <Override PartName="/ppt/slides/slide_x19.xml" ContentType="application/vnd.openxmlformats-officedocument.presentationml.slide+xml"/>
  <Override PartName="/ppt/slides/slide_x20.xml" ContentType="application/vnd.openxmlformats-officedocument.presentationml.slide+xml"/>
  <Override PartName="/ppt/slides/slide_x2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10" r:id="rId1"/>
  </p:sldMasterIdLst>
  <p:notesMasterIdLst>
    <p:notesMasterId r:id="rId17"/>
  </p:notesMasterIdLst>
  <p:sldIdLst>
    <p:sldId id="270" r:id="rId2"/>
    <p:sldId id="271" r:id="rId33"/>
    <p:sldId id="272" r:id="rId34"/>
    <p:sldId id="273" r:id="rId35"/>
    <p:sldId id="274" r:id="rId36"/>
    <p:sldId id="275" r:id="rId37"/>
    <p:sldId id="276" r:id="rId38"/>
    <p:sldId id="256" r:id="rId3"/>
    <p:sldId id="266" r:id="rId4"/>
    <p:sldId id="258" r:id="rId5"/>
    <p:sldId id="263" r:id="rId6"/>
    <p:sldId id="259" r:id="rId7"/>
    <p:sldId id="257" r:id="rId8"/>
    <p:sldId id="260" r:id="rId9"/>
    <p:sldId id="262" r:id="rId10"/>
    <p:sldId id="267" r:id="rId11"/>
    <p:sldId id="264" r:id="rId12"/>
    <p:sldId id="265" r:id="rId13"/>
    <p:sldId id="261" r:id="rId14"/>
    <p:sldId id="269" r:id="rId15"/>
    <p:sldId id="268" r:id="rId16"/>
  </p:sldIdLst>
  <p:sldSz cx="14630400" cy="8229600"/>
  <p:notesSz cx="8229600" cy="14630400"/>
  <p:embeddedFontLst>
    <p:embeddedFont>
      <p:font typeface="Century Gothic" panose="020B0502020202020204" pitchFamily="34" charset="0"/>
      <p:regular r:id="rId18"/>
      <p:bold r:id="rId19"/>
      <p:italic r:id="rId20"/>
      <p:boldItalic r:id="rId21"/>
    </p:embeddedFont>
    <p:embeddedFont>
      <p:font typeface="Wingdings 3" pitchFamily="2" charset="2"/>
      <p:regular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5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_x16.xml"/><Relationship Id="rId28" Type="http://schemas.openxmlformats.org/officeDocument/2006/relationships/slide" Target="slides/slide_x17.xml"/><Relationship Id="rId29" Type="http://schemas.openxmlformats.org/officeDocument/2006/relationships/slide" Target="slides/slide_x18.xml"/><Relationship Id="rId30" Type="http://schemas.openxmlformats.org/officeDocument/2006/relationships/slide" Target="slides/slide_x19.xml"/><Relationship Id="rId31" Type="http://schemas.openxmlformats.org/officeDocument/2006/relationships/slide" Target="slides/slide_x20.xml"/><Relationship Id="rId32" Type="http://schemas.openxmlformats.org/officeDocument/2006/relationships/slide" Target="slides/slide_x21.xml"/><Relationship Id="rId33" Type="http://schemas.openxmlformats.org/officeDocument/2006/relationships/slide" Target="slides/slide16.xml"/>
<Relationship Id="rId34" Type="http://schemas.openxmlformats.org/officeDocument/2006/relationships/slide" Target="slides/slide17.xml"/>
<Relationship Id="rId35" Type="http://schemas.openxmlformats.org/officeDocument/2006/relationships/slide" Target="slides/slide18.xml"/>
<Relationship Id="rId36" Type="http://schemas.openxmlformats.org/officeDocument/2006/relationships/slide" Target="slides/slide19.xml"/>
<Relationship Id="rId37" Type="http://schemas.openxmlformats.org/officeDocument/2006/relationships/slide" Target="slides/slide20.xml"/>
<Relationship Id="rId38" Type="http://schemas.openxmlformats.org/officeDocument/2006/relationships/slide" Target="slides/slide2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719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4630400" cy="82296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VN"/>
            </a:p>
          </p:txBody>
        </p:sp>
      </p:grpSp>
      <p:sp>
        <p:nvSpPr>
          <p:cNvPr id="2" name="Title 1"/>
          <p:cNvSpPr>
            <a:spLocks noGrp="1"/>
          </p:cNvSpPr>
          <p:nvPr>
            <p:ph type="ctrTitle"/>
          </p:nvPr>
        </p:nvSpPr>
        <p:spPr>
          <a:xfrm>
            <a:off x="1385946" y="2519679"/>
            <a:ext cx="10590790" cy="3213178"/>
          </a:xfrm>
        </p:spPr>
        <p:txBody>
          <a:bodyPr anchor="b"/>
          <a:lstStyle>
            <a:lvl1pPr>
              <a:defRPr sz="6480"/>
            </a:lvl1pPr>
          </a:lstStyle>
          <a:p>
            <a:r>
              <a:rPr lang="en-US"/>
              <a:t>Click to edit Master title style</a:t>
            </a:r>
            <a:endParaRPr lang="en-US" dirty="0"/>
          </a:p>
        </p:txBody>
      </p:sp>
      <p:sp>
        <p:nvSpPr>
          <p:cNvPr id="3" name="Subtitle 2"/>
          <p:cNvSpPr>
            <a:spLocks noGrp="1"/>
          </p:cNvSpPr>
          <p:nvPr>
            <p:ph type="subTitle" idx="1"/>
          </p:nvPr>
        </p:nvSpPr>
        <p:spPr bwMode="gray">
          <a:xfrm>
            <a:off x="1385946" y="5732856"/>
            <a:ext cx="10590790" cy="1033704"/>
          </a:xfrm>
        </p:spPr>
        <p:txBody>
          <a:bodyPr anchor="t"/>
          <a:lstStyle>
            <a:lvl1pPr marL="0" indent="0" algn="l">
              <a:buNone/>
              <a:defRPr cap="all">
                <a:solidFill>
                  <a:schemeClr val="accent1">
                    <a:lumMod val="60000"/>
                    <a:lumOff val="4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2190781" y="2150669"/>
            <a:ext cx="1188719" cy="365759"/>
          </a:xfrm>
        </p:spPr>
        <p:txBody>
          <a:bodyPr anchor="t"/>
          <a:lstStyle>
            <a:lvl1pPr algn="l">
              <a:defRPr b="0" i="0">
                <a:solidFill>
                  <a:schemeClr val="bg1">
                    <a:alpha val="60000"/>
                  </a:schemeClr>
                </a:solidFill>
              </a:defRPr>
            </a:lvl1pPr>
          </a:lstStyle>
          <a:p>
            <a:fld id="{A384583C-CE10-4095-8CD7-6A68903AC116}" type="datetimeFigureOut">
              <a:rPr lang="en-US" smtClean="0"/>
              <a:t>4/25/26</a:t>
            </a:fld>
            <a:endParaRPr lang="en-US"/>
          </a:p>
        </p:txBody>
      </p:sp>
      <p:sp>
        <p:nvSpPr>
          <p:cNvPr id="5" name="Footer Placeholder 4"/>
          <p:cNvSpPr>
            <a:spLocks noGrp="1"/>
          </p:cNvSpPr>
          <p:nvPr>
            <p:ph type="ftr" sz="quarter" idx="11"/>
          </p:nvPr>
        </p:nvSpPr>
        <p:spPr bwMode="gray">
          <a:xfrm rot="5400000">
            <a:off x="10742372" y="3873399"/>
            <a:ext cx="4631754" cy="365761"/>
          </a:xfrm>
        </p:spPr>
        <p:txBody>
          <a:bodyPr/>
          <a:lstStyle>
            <a:lvl1pPr>
              <a:defRPr b="0" i="0">
                <a:solidFill>
                  <a:schemeClr val="bg1">
                    <a:alpha val="60000"/>
                  </a:schemeClr>
                </a:solidFill>
              </a:defRPr>
            </a:lvl1pPr>
          </a:lstStyle>
          <a:p>
            <a:endParaRPr lang="en-US"/>
          </a:p>
        </p:txBody>
      </p:sp>
      <p:sp>
        <p:nvSpPr>
          <p:cNvPr id="11" name="Rectangle 10"/>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VN"/>
          </a:p>
        </p:txBody>
      </p:sp>
      <p:sp>
        <p:nvSpPr>
          <p:cNvPr id="12" name="Slide Number Placeholder 5"/>
          <p:cNvSpPr>
            <a:spLocks noGrp="1"/>
          </p:cNvSpPr>
          <p:nvPr>
            <p:ph type="sldNum" sz="quarter" idx="12"/>
          </p:nvPr>
        </p:nvSpPr>
        <p:spPr>
          <a:xfrm>
            <a:off x="12423049" y="354876"/>
            <a:ext cx="1005839" cy="921224"/>
          </a:xfrm>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13301870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385945" y="3124200"/>
            <a:ext cx="10590791"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4583C-CE10-4095-8CD7-6A68903AC116}"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134374263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4630400" cy="82296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5" y="3213174"/>
            <a:ext cx="5221230" cy="2740589"/>
          </a:xfrm>
        </p:spPr>
        <p:txBody>
          <a:bodyPr anchor="ct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274671" y="3213173"/>
            <a:ext cx="4509054" cy="2740589"/>
          </a:xfrm>
        </p:spPr>
        <p:txBody>
          <a:bodyPr anchor="ctr"/>
          <a:lstStyle>
            <a:lvl1pPr marL="0" indent="0" algn="l">
              <a:buNone/>
              <a:defRPr sz="2400" cap="all">
                <a:solidFill>
                  <a:schemeClr val="accent1">
                    <a:lumMod val="60000"/>
                    <a:lumOff val="4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84583C-CE10-4095-8CD7-6A68903AC116}"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256880676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85945" y="3124201"/>
            <a:ext cx="5790190" cy="409956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50455" y="3124200"/>
            <a:ext cx="5790191" cy="40995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84583C-CE10-4095-8CD7-6A68903AC116}"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345274590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85946" y="3124200"/>
            <a:ext cx="5790188"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85945" y="3815715"/>
            <a:ext cx="5790190" cy="3408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50455" y="3124200"/>
            <a:ext cx="5790191"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50455" y="3815715"/>
            <a:ext cx="5790191" cy="3408047"/>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84583C-CE10-4095-8CD7-6A68903AC116}" type="datetimeFigureOut">
              <a:rPr lang="en-US" smtClean="0"/>
              <a:t>4/25/26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150559723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385945" y="1168402"/>
            <a:ext cx="10513696" cy="848357"/>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84583C-CE10-4095-8CD7-6A68903AC116}" type="datetimeFigureOut">
              <a:rPr lang="en-US" smtClean="0"/>
              <a:t>4/25/26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100839791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84583C-CE10-4095-8CD7-6A68903AC116}" type="datetimeFigureOut">
              <a:rPr lang="en-US" smtClean="0"/>
              <a:t>4/25/26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381631388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6" y="1554480"/>
            <a:ext cx="3351790" cy="1920240"/>
          </a:xfrm>
        </p:spPr>
        <p:txBody>
          <a:bodyPr anchor="b"/>
          <a:lstStyle>
            <a:lvl1pPr algn="l">
              <a:defRPr sz="2880" b="0"/>
            </a:lvl1pPr>
          </a:lstStyle>
          <a:p>
            <a:r>
              <a:rPr lang="en-US"/>
              <a:t>Click to edit Master title style</a:t>
            </a:r>
            <a:endParaRPr lang="en-US" dirty="0"/>
          </a:p>
        </p:txBody>
      </p:sp>
      <p:sp>
        <p:nvSpPr>
          <p:cNvPr id="3" name="Content Placeholder 2"/>
          <p:cNvSpPr>
            <a:spLocks noGrp="1"/>
          </p:cNvSpPr>
          <p:nvPr>
            <p:ph idx="1"/>
          </p:nvPr>
        </p:nvSpPr>
        <p:spPr>
          <a:xfrm>
            <a:off x="6937375" y="1737360"/>
            <a:ext cx="6228079" cy="54864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385945" y="3755137"/>
            <a:ext cx="3351790" cy="3474719"/>
          </a:xfrm>
        </p:spPr>
        <p:txBody>
          <a:bodyPr/>
          <a:lstStyle>
            <a:lvl1pPr marL="0" indent="0">
              <a:buNone/>
              <a:defRPr sz="1680">
                <a:solidFill>
                  <a:schemeClr val="accent1">
                    <a:lumMod val="60000"/>
                    <a:lumOff val="4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A384583C-CE10-4095-8CD7-6A68903AC116}"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146693437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6" y="2032000"/>
            <a:ext cx="4638161" cy="2082800"/>
          </a:xfrm>
        </p:spPr>
        <p:txBody>
          <a:bodyPr anchor="b">
            <a:normAutofit/>
          </a:bodyPr>
          <a:lstStyle>
            <a:lvl1pPr algn="l">
              <a:defRPr sz="432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57444" y="1371600"/>
            <a:ext cx="3872632" cy="548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385945" y="4389120"/>
            <a:ext cx="4631054" cy="1645920"/>
          </a:xfrm>
        </p:spPr>
        <p:txBody>
          <a:bodyPr>
            <a:normAutofit/>
          </a:bodyPr>
          <a:lstStyle>
            <a:lvl1pPr marL="0" indent="0">
              <a:buNone/>
              <a:defRPr sz="1680">
                <a:solidFill>
                  <a:schemeClr val="accent1">
                    <a:lumMod val="60000"/>
                    <a:lumOff val="4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A384583C-CE10-4095-8CD7-6A68903AC116}"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135457537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5" y="5963912"/>
            <a:ext cx="10590791"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85945" y="822960"/>
            <a:ext cx="10590791" cy="4114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85945" y="6643998"/>
            <a:ext cx="10590790" cy="592454"/>
          </a:xfrm>
        </p:spPr>
        <p:txBody>
          <a:bodyPr>
            <a:normAutofit/>
          </a:bodyPr>
          <a:lstStyle>
            <a:lvl1pPr marL="0" indent="0">
              <a:buNone/>
              <a:defRPr sz="1440">
                <a:solidFill>
                  <a:schemeClr val="accent1">
                    <a:lumMod val="60000"/>
                    <a:lumOff val="4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A384583C-CE10-4095-8CD7-6A68903AC116}"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23393935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4630400" cy="82296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78558" y="1276101"/>
            <a:ext cx="10598179" cy="1647583"/>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385945" y="4251960"/>
            <a:ext cx="10590791" cy="2971800"/>
          </a:xfrm>
        </p:spPr>
        <p:txBody>
          <a:bodyPr anchor="ct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A384583C-CE10-4095-8CD7-6A68903AC116}"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198103220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4630400" cy="82296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1057879" y="728803"/>
            <a:ext cx="962294" cy="1865126"/>
          </a:xfrm>
          <a:prstGeom prst="rect">
            <a:avLst/>
          </a:prstGeom>
          <a:noFill/>
        </p:spPr>
        <p:txBody>
          <a:bodyPr wrap="square" rtlCol="0">
            <a:spAutoFit/>
          </a:bodyPr>
          <a:lstStyle/>
          <a:p>
            <a:pPr algn="r"/>
            <a:r>
              <a:rPr lang="en-US" sz="11520" b="0" i="0" dirty="0">
                <a:solidFill>
                  <a:schemeClr val="accent1">
                    <a:lumMod val="60000"/>
                    <a:lumOff val="40000"/>
                  </a:schemeClr>
                </a:solidFill>
                <a:latin typeface="Arial"/>
                <a:cs typeface="Arial"/>
              </a:rPr>
              <a:t>“</a:t>
            </a:r>
          </a:p>
        </p:txBody>
      </p:sp>
      <p:sp>
        <p:nvSpPr>
          <p:cNvPr id="13" name="TextBox 12"/>
          <p:cNvSpPr txBox="1"/>
          <p:nvPr/>
        </p:nvSpPr>
        <p:spPr bwMode="gray">
          <a:xfrm>
            <a:off x="11861350" y="3136545"/>
            <a:ext cx="783316" cy="1865126"/>
          </a:xfrm>
          <a:prstGeom prst="rect">
            <a:avLst/>
          </a:prstGeom>
          <a:noFill/>
        </p:spPr>
        <p:txBody>
          <a:bodyPr wrap="square" rtlCol="0">
            <a:spAutoFit/>
          </a:bodyPr>
          <a:lstStyle/>
          <a:p>
            <a:pPr algn="r"/>
            <a:r>
              <a:rPr lang="en-US" sz="1152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898254" y="1178561"/>
            <a:ext cx="10144687" cy="3235958"/>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2335135" y="4414519"/>
            <a:ext cx="9277463" cy="410609"/>
          </a:xfrm>
        </p:spPr>
        <p:txBody>
          <a:bodyPr anchor="t">
            <a:normAutofit/>
          </a:bodyPr>
          <a:lstStyle>
            <a:lvl1pPr marL="0" indent="0">
              <a:buNone/>
              <a:defRPr lang="en-US" sz="1680" b="0" i="0" kern="1200" cap="small" dirty="0">
                <a:solidFill>
                  <a:schemeClr val="accent1">
                    <a:lumMod val="60000"/>
                    <a:lumOff val="40000"/>
                  </a:schemeClr>
                </a:solidFill>
                <a:latin typeface="+mn-lt"/>
                <a:ea typeface="+mn-ea"/>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0" name="Text Placeholder 3"/>
          <p:cNvSpPr>
            <a:spLocks noGrp="1"/>
          </p:cNvSpPr>
          <p:nvPr>
            <p:ph type="body" sz="half" idx="2"/>
          </p:nvPr>
        </p:nvSpPr>
        <p:spPr>
          <a:xfrm>
            <a:off x="1385946" y="6035040"/>
            <a:ext cx="11093876" cy="1197428"/>
          </a:xfrm>
        </p:spPr>
        <p:txBody>
          <a:bodyPr anchor="ctr">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A384583C-CE10-4095-8CD7-6A68903AC116}"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210303012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5" y="2844800"/>
            <a:ext cx="10590792" cy="218701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385945" y="6029960"/>
            <a:ext cx="10590791" cy="1032480"/>
          </a:xfrm>
        </p:spPr>
        <p:txBody>
          <a:bodyPr anchor="t"/>
          <a:lstStyle>
            <a:lvl1pPr marL="0" indent="0" algn="l">
              <a:buNone/>
              <a:defRPr sz="2400" cap="none">
                <a:solidFill>
                  <a:schemeClr val="accent1">
                    <a:lumMod val="60000"/>
                    <a:lumOff val="4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84583C-CE10-4095-8CD7-6A68903AC116}"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288054784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385945" y="1168402"/>
            <a:ext cx="10590791" cy="848357"/>
          </a:xfrm>
        </p:spPr>
        <p:txBody>
          <a:bodyPr/>
          <a:lstStyle>
            <a:lvl1pPr>
              <a:defRPr sz="4320"/>
            </a:lvl1pPr>
          </a:lstStyle>
          <a:p>
            <a:r>
              <a:rPr lang="en-US"/>
              <a:t>Click to edit Master title style</a:t>
            </a:r>
            <a:endParaRPr lang="en-US" dirty="0"/>
          </a:p>
        </p:txBody>
      </p:sp>
      <p:sp>
        <p:nvSpPr>
          <p:cNvPr id="3" name="Text Placeholder 2"/>
          <p:cNvSpPr>
            <a:spLocks noGrp="1"/>
          </p:cNvSpPr>
          <p:nvPr>
            <p:ph type="body" idx="1"/>
          </p:nvPr>
        </p:nvSpPr>
        <p:spPr>
          <a:xfrm>
            <a:off x="1385945" y="3124203"/>
            <a:ext cx="3770254"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6" name="Text Placeholder 3"/>
          <p:cNvSpPr>
            <a:spLocks noGrp="1"/>
          </p:cNvSpPr>
          <p:nvPr>
            <p:ph type="body" sz="half" idx="15"/>
          </p:nvPr>
        </p:nvSpPr>
        <p:spPr>
          <a:xfrm>
            <a:off x="1385944" y="3815717"/>
            <a:ext cx="3770255" cy="341675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5415266" y="3124200"/>
            <a:ext cx="3776411"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9" name="Text Placeholder 3"/>
          <p:cNvSpPr>
            <a:spLocks noGrp="1"/>
          </p:cNvSpPr>
          <p:nvPr>
            <p:ph type="body" sz="half" idx="16"/>
          </p:nvPr>
        </p:nvSpPr>
        <p:spPr>
          <a:xfrm>
            <a:off x="5415266" y="3815716"/>
            <a:ext cx="3776411" cy="341675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9465762" y="3124201"/>
            <a:ext cx="3774876"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Text Placeholder 3"/>
          <p:cNvSpPr>
            <a:spLocks noGrp="1"/>
          </p:cNvSpPr>
          <p:nvPr>
            <p:ph type="body" sz="half" idx="17"/>
          </p:nvPr>
        </p:nvSpPr>
        <p:spPr>
          <a:xfrm>
            <a:off x="9465995" y="3815715"/>
            <a:ext cx="3774643" cy="341675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17" name="Straight Connector 16"/>
          <p:cNvCxnSpPr/>
          <p:nvPr/>
        </p:nvCxnSpPr>
        <p:spPr>
          <a:xfrm>
            <a:off x="5284765"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326881"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384583C-CE10-4095-8CD7-6A68903AC116}" type="datetimeFigureOut">
              <a:rPr lang="en-US" smtClean="0"/>
              <a:t>4/25/26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308312749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385945" y="1168402"/>
            <a:ext cx="10590791" cy="848357"/>
          </a:xfrm>
        </p:spPr>
        <p:txBody>
          <a:bodyPr/>
          <a:lstStyle>
            <a:lvl1pPr>
              <a:defRPr sz="4320"/>
            </a:lvl1pPr>
          </a:lstStyle>
          <a:p>
            <a:r>
              <a:rPr lang="en-US"/>
              <a:t>Click to edit Master title style</a:t>
            </a:r>
            <a:endParaRPr lang="en-US" dirty="0"/>
          </a:p>
        </p:txBody>
      </p:sp>
      <p:sp>
        <p:nvSpPr>
          <p:cNvPr id="3" name="Text Placeholder 2"/>
          <p:cNvSpPr>
            <a:spLocks noGrp="1"/>
          </p:cNvSpPr>
          <p:nvPr>
            <p:ph type="body" idx="1"/>
          </p:nvPr>
        </p:nvSpPr>
        <p:spPr>
          <a:xfrm>
            <a:off x="1385945" y="5439413"/>
            <a:ext cx="3660526"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9" name="Picture Placeholder 2"/>
          <p:cNvSpPr>
            <a:spLocks noGrp="1" noChangeAspect="1"/>
          </p:cNvSpPr>
          <p:nvPr>
            <p:ph type="pic" idx="15"/>
          </p:nvPr>
        </p:nvSpPr>
        <p:spPr>
          <a:xfrm>
            <a:off x="1601464" y="3124200"/>
            <a:ext cx="3229490" cy="190981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2" name="Text Placeholder 3"/>
          <p:cNvSpPr>
            <a:spLocks noGrp="1"/>
          </p:cNvSpPr>
          <p:nvPr>
            <p:ph type="body" sz="half" idx="18"/>
          </p:nvPr>
        </p:nvSpPr>
        <p:spPr>
          <a:xfrm>
            <a:off x="1385945" y="6130927"/>
            <a:ext cx="3660526" cy="1101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5482638" y="5439413"/>
            <a:ext cx="3660526" cy="691516"/>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1" name="Picture Placeholder 2"/>
          <p:cNvSpPr>
            <a:spLocks noGrp="1" noChangeAspect="1"/>
          </p:cNvSpPr>
          <p:nvPr>
            <p:ph type="pic" idx="21"/>
          </p:nvPr>
        </p:nvSpPr>
        <p:spPr>
          <a:xfrm>
            <a:off x="5698155" y="3124200"/>
            <a:ext cx="3229492" cy="190981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3" name="Text Placeholder 3"/>
          <p:cNvSpPr>
            <a:spLocks noGrp="1"/>
          </p:cNvSpPr>
          <p:nvPr>
            <p:ph type="body" sz="half" idx="19"/>
          </p:nvPr>
        </p:nvSpPr>
        <p:spPr>
          <a:xfrm>
            <a:off x="5484206" y="6130926"/>
            <a:ext cx="3660526" cy="1101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9579331" y="5439414"/>
            <a:ext cx="3661314"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2" name="Picture Placeholder 2"/>
          <p:cNvSpPr>
            <a:spLocks noGrp="1" noChangeAspect="1"/>
          </p:cNvSpPr>
          <p:nvPr>
            <p:ph type="pic" idx="22"/>
          </p:nvPr>
        </p:nvSpPr>
        <p:spPr>
          <a:xfrm>
            <a:off x="9795637" y="3124200"/>
            <a:ext cx="3229490" cy="190981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20"/>
          </p:nvPr>
        </p:nvSpPr>
        <p:spPr>
          <a:xfrm>
            <a:off x="9579330" y="6130925"/>
            <a:ext cx="3661315" cy="1101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43" name="Straight Connector 42"/>
          <p:cNvCxnSpPr/>
          <p:nvPr/>
        </p:nvCxnSpPr>
        <p:spPr>
          <a:xfrm>
            <a:off x="5286997"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9357362"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384583C-CE10-4095-8CD7-6A68903AC116}" type="datetimeFigureOut">
              <a:rPr lang="en-US" smtClean="0"/>
              <a:t>4/25/26</a:t>
            </a:fld>
            <a:endParaRPr lang="en-US"/>
          </a:p>
        </p:txBody>
      </p:sp>
      <p:sp>
        <p:nvSpPr>
          <p:cNvPr id="8" name="Footer Placeholder 7"/>
          <p:cNvSpPr>
            <a:spLocks noGrp="1"/>
          </p:cNvSpPr>
          <p:nvPr>
            <p:ph type="ftr" sz="quarter" idx="11"/>
          </p:nvPr>
        </p:nvSpPr>
        <p:spPr>
          <a:xfrm>
            <a:off x="673333" y="7670206"/>
            <a:ext cx="4373138" cy="365761"/>
          </a:xfrm>
        </p:spPr>
        <p:txBody>
          <a:bodyPr/>
          <a:lstStyle/>
          <a:p>
            <a:endParaRPr lang="en-US"/>
          </a:p>
        </p:txBody>
      </p:sp>
      <p:sp>
        <p:nvSpPr>
          <p:cNvPr id="9" name="Slide Number Placeholder 8"/>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51943092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385945" y="1168402"/>
            <a:ext cx="10590791" cy="84835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85945" y="3124200"/>
            <a:ext cx="10590791" cy="409956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2834527" y="7670206"/>
            <a:ext cx="1188719" cy="365759"/>
          </a:xfrm>
        </p:spPr>
        <p:txBody>
          <a:bodyPr/>
          <a:lstStyle/>
          <a:p>
            <a:fld id="{A384583C-CE10-4095-8CD7-6A68903AC116}"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192607215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10302283" y="1534160"/>
            <a:ext cx="1691958" cy="5698308"/>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385945" y="1534160"/>
            <a:ext cx="7507230" cy="569830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2783725" y="7670206"/>
            <a:ext cx="1190562" cy="365759"/>
          </a:xfrm>
        </p:spPr>
        <p:txBody>
          <a:bodyPr/>
          <a:lstStyle/>
          <a:p>
            <a:fld id="{A384583C-CE10-4095-8CD7-6A68903AC116}"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C5106B-138C-4DC9-B8BA-5B262E4F5972}" type="slidenum">
              <a:rPr lang="en-US" smtClean="0"/>
              <a:t>‹#›</a:t>
            </a:fld>
            <a:endParaRPr lang="en-US"/>
          </a:p>
        </p:txBody>
      </p:sp>
    </p:spTree>
    <p:extLst>
      <p:ext uri="{BB962C8B-B14F-4D97-AF65-F5344CB8AC3E}">
        <p14:creationId xmlns:p14="http://schemas.microsoft.com/office/powerpoint/2010/main" val="112494510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9193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706179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41001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8215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00024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4149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846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58975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6061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7181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 Id="rId2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4630400" cy="8229600"/>
            <a:chOff x="0" y="0"/>
            <a:chExt cx="12192000" cy="6858000"/>
          </a:xfrm>
        </p:grpSpPr>
        <p:sp>
          <p:nvSpPr>
            <p:cNvPr id="7" name="Rectangle 6"/>
            <p:cNvSpPr/>
            <p:nvPr/>
          </p:nvSpPr>
          <p:spPr>
            <a:xfrm>
              <a:off x="0" y="0"/>
              <a:ext cx="12192000" cy="6858000"/>
            </a:xfrm>
            <a:prstGeom prst="rect">
              <a:avLst/>
            </a:prstGeom>
            <a:blipFill>
              <a:blip r:embed="rId2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VN"/>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VN"/>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VN"/>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VN"/>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VN"/>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VN"/>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VN"/>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VN"/>
            </a:p>
          </p:txBody>
        </p:sp>
      </p:grpSp>
      <p:sp>
        <p:nvSpPr>
          <p:cNvPr id="2" name="Title Placeholder 1"/>
          <p:cNvSpPr>
            <a:spLocks noGrp="1"/>
          </p:cNvSpPr>
          <p:nvPr>
            <p:ph type="title"/>
          </p:nvPr>
        </p:nvSpPr>
        <p:spPr bwMode="gray">
          <a:xfrm>
            <a:off x="1385945" y="1168402"/>
            <a:ext cx="10513696" cy="848357"/>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385945" y="3124200"/>
            <a:ext cx="10513696" cy="4099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783725" y="7670206"/>
            <a:ext cx="1188719" cy="365759"/>
          </a:xfrm>
          <a:prstGeom prst="rect">
            <a:avLst/>
          </a:prstGeom>
        </p:spPr>
        <p:txBody>
          <a:bodyPr vert="horz" lIns="91440" tIns="45720" rIns="91440" bIns="45720" rtlCol="0" anchor="ctr"/>
          <a:lstStyle>
            <a:lvl1pPr algn="r">
              <a:defRPr sz="1200" b="1" i="0">
                <a:solidFill>
                  <a:schemeClr val="accent1"/>
                </a:solidFill>
              </a:defRPr>
            </a:lvl1pPr>
          </a:lstStyle>
          <a:p>
            <a:fld id="{A384583C-CE10-4095-8CD7-6A68903AC116}" type="datetimeFigureOut">
              <a:rPr lang="en-US" smtClean="0"/>
              <a:t>4/25/26</a:t>
            </a:fld>
            <a:endParaRPr lang="en-US"/>
          </a:p>
        </p:txBody>
      </p:sp>
      <p:sp>
        <p:nvSpPr>
          <p:cNvPr id="5" name="Footer Placeholder 4"/>
          <p:cNvSpPr>
            <a:spLocks noGrp="1"/>
          </p:cNvSpPr>
          <p:nvPr>
            <p:ph type="ftr" sz="quarter" idx="3"/>
          </p:nvPr>
        </p:nvSpPr>
        <p:spPr>
          <a:xfrm>
            <a:off x="673333" y="7670206"/>
            <a:ext cx="4631754" cy="365761"/>
          </a:xfrm>
          <a:prstGeom prst="rect">
            <a:avLst/>
          </a:prstGeom>
        </p:spPr>
        <p:txBody>
          <a:bodyPr vert="horz" lIns="91440" tIns="45720" rIns="91440" bIns="45720" rtlCol="0" anchor="ctr"/>
          <a:lstStyle>
            <a:lvl1pPr algn="l">
              <a:defRPr sz="1200" b="1" i="0">
                <a:solidFill>
                  <a:schemeClr val="accent1"/>
                </a:solidFill>
              </a:defRPr>
            </a:lvl1pPr>
          </a:lstStyle>
          <a:p>
            <a:endParaRPr lang="en-US"/>
          </a:p>
        </p:txBody>
      </p:sp>
      <p:sp>
        <p:nvSpPr>
          <p:cNvPr id="21" name="Rectangle 20"/>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VN"/>
          </a:p>
        </p:txBody>
      </p:sp>
      <p:sp>
        <p:nvSpPr>
          <p:cNvPr id="6" name="Slide Number Placeholder 5"/>
          <p:cNvSpPr>
            <a:spLocks noGrp="1"/>
          </p:cNvSpPr>
          <p:nvPr>
            <p:ph type="sldNum" sz="quarter" idx="4"/>
          </p:nvPr>
        </p:nvSpPr>
        <p:spPr bwMode="gray">
          <a:xfrm>
            <a:off x="12423049" y="354876"/>
            <a:ext cx="1005839" cy="921224"/>
          </a:xfrm>
          <a:prstGeom prst="rect">
            <a:avLst/>
          </a:prstGeom>
        </p:spPr>
        <p:txBody>
          <a:bodyPr vert="horz" lIns="91440" tIns="45720" rIns="91440" bIns="45720" rtlCol="0" anchor="b"/>
          <a:lstStyle>
            <a:lvl1pPr algn="ctr">
              <a:defRPr sz="3360" b="0" i="0">
                <a:solidFill>
                  <a:schemeClr val="bg1"/>
                </a:solidFill>
              </a:defRPr>
            </a:lvl1pPr>
          </a:lstStyle>
          <a:p>
            <a:fld id="{1FC5106B-138C-4DC9-B8BA-5B262E4F5972}" type="slidenum">
              <a:rPr lang="en-US" smtClean="0"/>
              <a:t>‹#›</a:t>
            </a:fld>
            <a:endParaRPr lang="en-US"/>
          </a:p>
        </p:txBody>
      </p:sp>
    </p:spTree>
    <p:extLst>
      <p:ext uri="{BB962C8B-B14F-4D97-AF65-F5344CB8AC3E}">
        <p14:creationId xmlns:p14="http://schemas.microsoft.com/office/powerpoint/2010/main" val="3952428843"/>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7" r:id="rId27"/>
  </p:sldLayoutIdLst>
  <p:hf sldNum="0" hdr="0" ftr="0" dt="0"/>
  <p:txStyles>
    <p:titleStyle>
      <a:lvl1pPr algn="l" defTabSz="548640" rtl="0" eaLnBrk="1" latinLnBrk="0" hangingPunct="1">
        <a:spcBef>
          <a:spcPct val="0"/>
        </a:spcBef>
        <a:buNone/>
        <a:defRPr sz="432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b="0" i="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b="0" i="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b="0" i="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DD511-E2A1-2B1A-2FCC-EFA19A132C5B}"/>
              </a:ext>
            </a:extLst>
          </p:cNvPr>
          <p:cNvSpPr>
            <a:spLocks noGrp="1"/>
          </p:cNvSpPr>
          <p:nvPr>
            <p:ph type="ctrTitle"/>
          </p:nvPr>
        </p:nvSpPr>
        <p:spPr>
          <a:xfrm>
            <a:off x="1385948" y="2061754"/>
            <a:ext cx="11165282" cy="3322760"/>
          </a:xfrm>
        </p:spPr>
        <p:txBody>
          <a:bodyPr/>
          <a:lstStyle/>
          <a:p>
            <a:r>
              <a:rPr lang="en-US" b="1" dirty="0">
                <a:latin typeface="Arial" panose="020B0604020202020204" pitchFamily="34" charset="0"/>
                <a:cs typeface="Arial" panose="020B0604020202020204" pitchFamily="34" charset="0"/>
              </a:rPr>
              <a:t>Topic 1</a:t>
            </a:r>
            <a:r>
              <a:rPr lang="en-US" dirty="0">
                <a:latin typeface="Arial" panose="020B0604020202020204" pitchFamily="34" charset="0"/>
                <a:cs typeface="Arial" panose="020B0604020202020204" pitchFamily="34" charset="0"/>
              </a:rPr>
              <a:t>. AI-Powered Intrusion Detection System (IDS) using Machine Learning</a:t>
            </a:r>
          </a:p>
        </p:txBody>
      </p:sp>
    </p:spTree>
    <p:extLst>
      <p:ext uri="{BB962C8B-B14F-4D97-AF65-F5344CB8AC3E}">
        <p14:creationId xmlns:p14="http://schemas.microsoft.com/office/powerpoint/2010/main" val="687462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4630400" cy="8229600"/>
            <a:chOff x="0" y="0"/>
            <a:chExt cx="12192000" cy="6858000"/>
          </a:xfrm>
        </p:grpSpPr>
        <p:sp>
          <p:nvSpPr>
            <p:cNvPr id="10" name="Rectangle 9">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6"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768582" y="2191294"/>
            <a:ext cx="3959288" cy="529109"/>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8" name="Freeform: Shape 27">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06357" y="-169039"/>
            <a:ext cx="7264404" cy="8567678"/>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0"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904"/>
            <a:ext cx="14630400" cy="8227696"/>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3" name="Text 0"/>
          <p:cNvSpPr/>
          <p:nvPr/>
        </p:nvSpPr>
        <p:spPr>
          <a:xfrm>
            <a:off x="1192904" y="1356723"/>
            <a:ext cx="4010930" cy="5516153"/>
          </a:xfrm>
          <a:prstGeom prst="rect">
            <a:avLst/>
          </a:prstGeom>
        </p:spPr>
        <p:txBody>
          <a:bodyPr vert="horz" lIns="91440" tIns="45720" rIns="91440" bIns="45720" rtlCol="0" anchor="ctr">
            <a:normAutofit/>
          </a:bodyPr>
          <a:lstStyle/>
          <a:p>
            <a:pPr marL="0" indent="0">
              <a:spcBef>
                <a:spcPct val="0"/>
              </a:spcBef>
              <a:spcAft>
                <a:spcPts val="600"/>
              </a:spcAft>
            </a:pPr>
            <a:r>
              <a:rPr lang="en-US" sz="3800">
                <a:solidFill>
                  <a:srgbClr val="EBEBEB"/>
                </a:solidFill>
                <a:latin typeface="+mj-lt"/>
                <a:ea typeface="+mj-ea"/>
                <a:cs typeface="+mj-cs"/>
              </a:rPr>
              <a:t>Network Traffic là gì ?</a:t>
            </a:r>
          </a:p>
        </p:txBody>
      </p:sp>
      <p:sp>
        <p:nvSpPr>
          <p:cNvPr id="4" name="Text 1"/>
          <p:cNvSpPr/>
          <p:nvPr/>
        </p:nvSpPr>
        <p:spPr>
          <a:xfrm>
            <a:off x="6348092" y="525015"/>
            <a:ext cx="6603137" cy="7145190"/>
          </a:xfrm>
          <a:prstGeom prst="rect">
            <a:avLst/>
          </a:prstGeom>
        </p:spPr>
        <p:txBody>
          <a:bodyPr vert="horz" lIns="91440" tIns="45720" rIns="91440" bIns="45720" rtlCol="0" anchor="ctr">
            <a:normAutofit/>
          </a:bodyPr>
          <a:lstStyle/>
          <a:p>
            <a:pPr marL="0" indent="0">
              <a:spcBef>
                <a:spcPts val="1000"/>
              </a:spcBef>
              <a:buClr>
                <a:schemeClr val="accent1"/>
              </a:buClr>
              <a:buSzPct val="80000"/>
              <a:buFont typeface="Wingdings 3" charset="2"/>
              <a:buChar char=""/>
            </a:pPr>
            <a:r>
              <a:rPr lang="en-US" sz="2400">
                <a:solidFill>
                  <a:schemeClr val="tx1">
                    <a:lumMod val="75000"/>
                    <a:lumOff val="25000"/>
                  </a:schemeClr>
                </a:solidFill>
              </a:rPr>
              <a:t>Network traffic (lưu lượng mạng) là toàn bộ dữ liệu di chuyển qua mạng máy tính trong một khoảng thời gian nhất định. Mỗi khi người dùng mở một trang web, xem video, gửi email, nhắn tin, chơi game online hoặc tải file, dữ liệu sẽ được gửi qua mạng dưới dạng các "gói tin" nhỏ gọi là packet.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4630400" cy="8229600"/>
            <a:chOff x="0" y="0"/>
            <a:chExt cx="12192000" cy="6858000"/>
          </a:xfrm>
        </p:grpSpPr>
        <p:sp>
          <p:nvSpPr>
            <p:cNvPr id="8" name="Rectangle 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1" name="Rectangle 1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3" name="Group 12">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4630400" cy="8229600"/>
            <a:chOff x="0" y="0"/>
            <a:chExt cx="12192000" cy="6858000"/>
          </a:xfrm>
        </p:grpSpPr>
        <p:sp useBgFill="1">
          <p:nvSpPr>
            <p:cNvPr id="14" name="Rectangle 13">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3BEF319D-76AE-173B-7D0B-79801FCF14BB}"/>
              </a:ext>
            </a:extLst>
          </p:cNvPr>
          <p:cNvSpPr>
            <a:spLocks noGrp="1"/>
          </p:cNvSpPr>
          <p:nvPr>
            <p:ph type="title"/>
          </p:nvPr>
        </p:nvSpPr>
        <p:spPr>
          <a:xfrm>
            <a:off x="5614104" y="1644171"/>
            <a:ext cx="7669524" cy="4988935"/>
          </a:xfrm>
        </p:spPr>
        <p:txBody>
          <a:bodyPr vert="horz" lIns="91440" tIns="45720" rIns="91440" bIns="45720" rtlCol="0" anchor="ctr">
            <a:normAutofit/>
          </a:bodyPr>
          <a:lstStyle/>
          <a:p>
            <a:pPr defTabSz="457200"/>
            <a:r>
              <a:rPr lang="en-US" sz="7900">
                <a:solidFill>
                  <a:schemeClr val="tx1"/>
                </a:solidFill>
              </a:rPr>
              <a:t>Các loại Network Traffic Attack</a:t>
            </a:r>
          </a:p>
        </p:txBody>
      </p:sp>
      <p:cxnSp>
        <p:nvCxnSpPr>
          <p:cNvPr id="25" name="Straight Connector 24">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28024" y="2317183"/>
            <a:ext cx="0" cy="384048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86048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1748161" y="1067907"/>
            <a:ext cx="5954197" cy="744260"/>
          </a:xfrm>
          <a:prstGeom prst="rect">
            <a:avLst/>
          </a:prstGeom>
          <a:noFill/>
          <a:ln/>
        </p:spPr>
        <p:txBody>
          <a:bodyPr wrap="none" lIns="0" tIns="0" rIns="0" bIns="0" rtlCol="0" anchor="t"/>
          <a:lstStyle/>
          <a:p>
            <a:pPr marL="0" indent="0" algn="l">
              <a:lnSpc>
                <a:spcPts val="5850"/>
              </a:lnSpc>
              <a:buNone/>
            </a:pPr>
            <a:r>
              <a:rPr lang="en-US" sz="4650" dirty="0" err="1">
                <a:solidFill>
                  <a:schemeClr val="bg1"/>
                </a:solidFill>
                <a:latin typeface="Arial" panose="020B0604020202020204" pitchFamily="34" charset="0"/>
                <a:ea typeface="PT Serif" pitchFamily="34" charset="-122"/>
                <a:cs typeface="Arial" panose="020B0604020202020204" pitchFamily="34" charset="0"/>
              </a:rPr>
              <a:t>PortScan</a:t>
            </a:r>
            <a:endParaRPr lang="en-US" sz="4650" dirty="0">
              <a:solidFill>
                <a:schemeClr val="bg1"/>
              </a:solidFill>
              <a:latin typeface="Arial" panose="020B0604020202020204" pitchFamily="34" charset="0"/>
              <a:cs typeface="Arial" panose="020B0604020202020204" pitchFamily="34" charset="0"/>
            </a:endParaRPr>
          </a:p>
        </p:txBody>
      </p:sp>
      <p:sp>
        <p:nvSpPr>
          <p:cNvPr id="5" name="Shape 2"/>
          <p:cNvSpPr/>
          <p:nvPr/>
        </p:nvSpPr>
        <p:spPr>
          <a:xfrm>
            <a:off x="2392144" y="3252176"/>
            <a:ext cx="3664744" cy="30480"/>
          </a:xfrm>
          <a:prstGeom prst="rect">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
        <p:nvSpPr>
          <p:cNvPr id="7" name="Text 4"/>
          <p:cNvSpPr/>
          <p:nvPr/>
        </p:nvSpPr>
        <p:spPr>
          <a:xfrm>
            <a:off x="2392144" y="3596233"/>
            <a:ext cx="3664744" cy="2177415"/>
          </a:xfrm>
          <a:prstGeom prst="rect">
            <a:avLst/>
          </a:prstGeom>
          <a:noFill/>
          <a:ln/>
        </p:spPr>
        <p:txBody>
          <a:bodyPr wrap="square" lIns="0" tIns="0" rIns="0" bIns="0" rtlCol="0" anchor="t"/>
          <a:lstStyle/>
          <a:p>
            <a:pPr>
              <a:lnSpc>
                <a:spcPts val="2850"/>
              </a:lnSpc>
            </a:pPr>
            <a:r>
              <a:rPr lang="en-US" sz="1750" dirty="0">
                <a:solidFill>
                  <a:srgbClr val="383838"/>
                </a:solidFill>
                <a:latin typeface="Arial" panose="020B0604020202020204" pitchFamily="34" charset="0"/>
                <a:ea typeface="DM Sans" pitchFamily="34" charset="-122"/>
                <a:cs typeface="Arial" panose="020B0604020202020204" pitchFamily="34" charset="0"/>
              </a:rPr>
              <a:t>Kẻ tấn công gửi các gói tin đến một loạt các </a:t>
            </a:r>
            <a:r>
              <a:rPr lang="en-US" sz="1750" dirty="0" err="1">
                <a:solidFill>
                  <a:srgbClr val="383838"/>
                </a:solidFill>
                <a:latin typeface="Arial" panose="020B0604020202020204" pitchFamily="34" charset="0"/>
                <a:ea typeface="DM Sans" pitchFamily="34" charset="-122"/>
                <a:cs typeface="Arial" panose="020B0604020202020204" pitchFamily="34" charset="0"/>
              </a:rPr>
              <a:t>cổng</a:t>
            </a:r>
            <a:r>
              <a:rPr lang="en-US" sz="1750" dirty="0">
                <a:solidFill>
                  <a:srgbClr val="383838"/>
                </a:solidFill>
                <a:latin typeface="Arial" panose="020B0604020202020204" pitchFamily="34" charset="0"/>
                <a:ea typeface="DM Sans" pitchFamily="34" charset="-122"/>
                <a:cs typeface="Arial" panose="020B0604020202020204" pitchFamily="34" charset="0"/>
              </a:rPr>
              <a:t> </a:t>
            </a:r>
            <a:r>
              <a:rPr lang="en-US" sz="1750" dirty="0" err="1">
                <a:solidFill>
                  <a:srgbClr val="383838"/>
                </a:solidFill>
                <a:latin typeface="Arial" panose="020B0604020202020204" pitchFamily="34" charset="0"/>
                <a:ea typeface="DM Sans" pitchFamily="34" charset="-122"/>
                <a:cs typeface="Arial" panose="020B0604020202020204" pitchFamily="34" charset="0"/>
              </a:rPr>
              <a:t>của</a:t>
            </a:r>
            <a:r>
              <a:rPr lang="en-US" sz="1750" dirty="0">
                <a:solidFill>
                  <a:srgbClr val="383838"/>
                </a:solidFill>
                <a:latin typeface="Arial" panose="020B0604020202020204" pitchFamily="34" charset="0"/>
                <a:ea typeface="DM Sans" pitchFamily="34" charset="-122"/>
                <a:cs typeface="Arial" panose="020B0604020202020204" pitchFamily="34" charset="0"/>
              </a:rPr>
              <a:t> một địa chỉ IP để xem cổng nào đang "Mở" (đang chạy dịch vụ). Đây là bước trinh sát đầu </a:t>
            </a:r>
            <a:r>
              <a:rPr lang="en-US" sz="1750" dirty="0" err="1">
                <a:solidFill>
                  <a:srgbClr val="383838"/>
                </a:solidFill>
                <a:latin typeface="Arial" panose="020B0604020202020204" pitchFamily="34" charset="0"/>
                <a:ea typeface="DM Sans" pitchFamily="34" charset="-122"/>
                <a:cs typeface="Arial" panose="020B0604020202020204" pitchFamily="34" charset="0"/>
              </a:rPr>
              <a:t>tiên</a:t>
            </a:r>
            <a:r>
              <a:rPr lang="en-US" sz="1750" dirty="0">
                <a:solidFill>
                  <a:srgbClr val="383838"/>
                </a:solidFill>
                <a:latin typeface="Arial" panose="020B0604020202020204" pitchFamily="34" charset="0"/>
                <a:ea typeface="DM Sans" pitchFamily="34" charset="-122"/>
                <a:cs typeface="Arial" panose="020B0604020202020204" pitchFamily="34" charset="0"/>
              </a:rPr>
              <a:t>. </a:t>
            </a:r>
            <a:r>
              <a:rPr lang="vi-VN" dirty="0"/>
              <a:t>Đây thường là bước đầu tiên trong một cuộc tấn công. Kẻ tấn công cần biết "nạn nhân" đang mở những dịch vụ nào (web, email, database...) để tìm cách khai thác lỗ hổng của dịch vụ đó.</a:t>
            </a:r>
            <a:endParaRPr lang="en-US" sz="175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54E3155-6399-A7B2-4648-BA6244A8540D}"/>
              </a:ext>
            </a:extLst>
          </p:cNvPr>
          <p:cNvSpPr txBox="1"/>
          <p:nvPr/>
        </p:nvSpPr>
        <p:spPr>
          <a:xfrm>
            <a:off x="7201615" y="3653135"/>
            <a:ext cx="4898572" cy="1477328"/>
          </a:xfrm>
          <a:prstGeom prst="rect">
            <a:avLst/>
          </a:prstGeom>
          <a:noFill/>
        </p:spPr>
        <p:txBody>
          <a:bodyPr wrap="square">
            <a:spAutoFit/>
          </a:bodyPr>
          <a:lstStyle/>
          <a:p>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0" i="0" dirty="0">
                <a:effectLst/>
                <a:latin typeface="Arial" panose="020B0604020202020204" pitchFamily="34" charset="0"/>
                <a:cs typeface="Arial" panose="020B0604020202020204" pitchFamily="34" charset="0"/>
              </a:rPr>
              <a:t>Yêu </a:t>
            </a:r>
            <a:r>
              <a:rPr lang="en-US" b="0" i="0" dirty="0" err="1">
                <a:effectLst/>
                <a:latin typeface="Arial" panose="020B0604020202020204" pitchFamily="34" charset="0"/>
                <a:cs typeface="Arial" panose="020B0604020202020204" pitchFamily="34" charset="0"/>
              </a:rPr>
              <a:t>cầu</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đến</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các</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cổng</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không</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phổ</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biến</a:t>
            </a:r>
            <a:r>
              <a:rPr lang="en-US" b="0" i="0" dirty="0">
                <a:effectLst/>
                <a:latin typeface="Arial" panose="020B0604020202020204" pitchFamily="34" charset="0"/>
                <a:cs typeface="Arial" panose="020B0604020202020204" pitchFamily="34" charset="0"/>
              </a:rPr>
              <a:t>.</a:t>
            </a:r>
          </a:p>
          <a:p>
            <a:r>
              <a:rPr lang="en-US" b="0" i="0" dirty="0">
                <a:effectLst/>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0" i="0" dirty="0">
                <a:effectLst/>
                <a:latin typeface="Arial" panose="020B0604020202020204" pitchFamily="34" charset="0"/>
                <a:cs typeface="Arial" panose="020B0604020202020204" pitchFamily="34" charset="0"/>
              </a:rPr>
              <a:t>Truy </a:t>
            </a:r>
            <a:r>
              <a:rPr lang="en-US" b="0" i="0" dirty="0" err="1">
                <a:effectLst/>
                <a:latin typeface="Arial" panose="020B0604020202020204" pitchFamily="34" charset="0"/>
                <a:cs typeface="Arial" panose="020B0604020202020204" pitchFamily="34" charset="0"/>
              </a:rPr>
              <a:t>cập</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nhiều</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cổng</a:t>
            </a:r>
            <a:endParaRPr lang="en-US" dirty="0">
              <a:latin typeface="Arial" panose="020B0604020202020204" pitchFamily="34" charset="0"/>
              <a:cs typeface="Arial" panose="020B0604020202020204" pitchFamily="34" charset="0"/>
            </a:endParaRPr>
          </a:p>
        </p:txBody>
      </p:sp>
      <p:sp>
        <p:nvSpPr>
          <p:cNvPr id="2" name="Shape 6">
            <a:extLst>
              <a:ext uri="{FF2B5EF4-FFF2-40B4-BE49-F238E27FC236}">
                <a16:creationId xmlns:a16="http://schemas.microsoft.com/office/drawing/2014/main" id="{83274A90-9AE5-AF84-6854-BEFFC1BC0C8C}"/>
              </a:ext>
            </a:extLst>
          </p:cNvPr>
          <p:cNvSpPr/>
          <p:nvPr/>
        </p:nvSpPr>
        <p:spPr>
          <a:xfrm>
            <a:off x="7201615" y="3252176"/>
            <a:ext cx="3664863" cy="30480"/>
          </a:xfrm>
          <a:prstGeom prst="rect">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632110" y="1235391"/>
            <a:ext cx="5020985" cy="453390"/>
          </a:xfrm>
          <a:prstGeom prst="rect">
            <a:avLst/>
          </a:prstGeom>
          <a:noFill/>
          <a:ln/>
        </p:spPr>
        <p:txBody>
          <a:bodyPr wrap="none" lIns="0" tIns="0" rIns="0" bIns="0" rtlCol="0" anchor="t"/>
          <a:lstStyle/>
          <a:p>
            <a:pPr marL="0" indent="0" algn="l">
              <a:lnSpc>
                <a:spcPts val="3550"/>
              </a:lnSpc>
              <a:buNone/>
            </a:pPr>
            <a:r>
              <a:rPr lang="en-US" sz="4800" dirty="0">
                <a:solidFill>
                  <a:schemeClr val="bg1"/>
                </a:solidFill>
                <a:latin typeface="Arial" panose="020B0604020202020204" pitchFamily="34" charset="0"/>
                <a:ea typeface="PT Serif" pitchFamily="34" charset="-122"/>
                <a:cs typeface="Arial" panose="020B0604020202020204" pitchFamily="34" charset="0"/>
              </a:rPr>
              <a:t>Bot</a:t>
            </a:r>
            <a:endParaRPr lang="en-US" sz="4800" dirty="0">
              <a:solidFill>
                <a:schemeClr val="bg1"/>
              </a:solidFill>
              <a:latin typeface="Arial" panose="020B0604020202020204" pitchFamily="34" charset="0"/>
              <a:cs typeface="Arial" panose="020B0604020202020204" pitchFamily="34" charset="0"/>
            </a:endParaRPr>
          </a:p>
        </p:txBody>
      </p:sp>
      <p:sp>
        <p:nvSpPr>
          <p:cNvPr id="5" name="Text 2"/>
          <p:cNvSpPr/>
          <p:nvPr/>
        </p:nvSpPr>
        <p:spPr>
          <a:xfrm>
            <a:off x="1828800" y="3537772"/>
            <a:ext cx="11312809" cy="1752684"/>
          </a:xfrm>
          <a:prstGeom prst="rect">
            <a:avLst/>
          </a:prstGeom>
          <a:noFill/>
          <a:ln/>
        </p:spPr>
        <p:txBody>
          <a:bodyPr wrap="square" lIns="0" tIns="0" rIns="0" bIns="0" rtlCol="0" anchor="t"/>
          <a:lstStyle/>
          <a:p>
            <a:pPr>
              <a:lnSpc>
                <a:spcPct val="150000"/>
              </a:lnSpc>
            </a:pPr>
            <a:r>
              <a:rPr lang="vi-VN" dirty="0"/>
              <a:t>"Bot" ở đây được hiểu là một thiết bị "zombie" (xác sống). Nó vẫn hoạt động bình thường với chủ sở hữu, nhưng ngầm bên dưới, nó đang nằm dưới quyền điều khiển của một kẻ tấn công, thông qua một máy chủ chỉ huy và kiểm soát (C&amp;C).</a:t>
            </a:r>
          </a:p>
          <a:p>
            <a:pPr>
              <a:lnSpc>
                <a:spcPct val="150000"/>
              </a:lnSpc>
            </a:pPr>
            <a:r>
              <a:rPr lang="vi-VN" dirty="0"/>
              <a:t>Mạng lưới gồm hàng ngàn, thậm chí hàng triệu "bot" hợp lại gọi là botnet.</a:t>
            </a:r>
            <a:r>
              <a:rPr lang="en-US" dirty="0"/>
              <a:t> </a:t>
            </a:r>
            <a:r>
              <a:rPr lang="vi-VN" dirty="0"/>
              <a:t>Botnet chính là cơ sở hạ tầng để thực hiện hầu hết các cuộc tấn công mạng quy mô lớn</a:t>
            </a:r>
          </a:p>
        </p:txBody>
      </p:sp>
      <p:sp>
        <p:nvSpPr>
          <p:cNvPr id="4" name="TextBox 3">
            <a:extLst>
              <a:ext uri="{FF2B5EF4-FFF2-40B4-BE49-F238E27FC236}">
                <a16:creationId xmlns:a16="http://schemas.microsoft.com/office/drawing/2014/main" id="{85C69E10-7888-A081-5421-6C7A2C3535BE}"/>
              </a:ext>
            </a:extLst>
          </p:cNvPr>
          <p:cNvSpPr txBox="1"/>
          <p:nvPr/>
        </p:nvSpPr>
        <p:spPr>
          <a:xfrm>
            <a:off x="1828800" y="6187712"/>
            <a:ext cx="7315200" cy="871777"/>
          </a:xfrm>
          <a:prstGeom prst="rect">
            <a:avLst/>
          </a:prstGeom>
          <a:noFill/>
        </p:spPr>
        <p:txBody>
          <a:bodyPr wrap="square">
            <a:spAutoFit/>
          </a:bodyPr>
          <a:lstStyle/>
          <a:p>
            <a:pPr>
              <a:lnSpc>
                <a:spcPct val="150000"/>
              </a:lnSpc>
            </a:pPr>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lnSpc>
                <a:spcPct val="150000"/>
              </a:lnSpc>
              <a:buFont typeface="Arial" panose="020B0604020202020204" pitchFamily="34" charset="0"/>
              <a:buChar char="•"/>
            </a:pPr>
            <a:r>
              <a:rPr lang="vi-VN" b="0" i="0" dirty="0">
                <a:effectLst/>
              </a:rPr>
              <a:t>Kết nối đến </a:t>
            </a:r>
            <a:r>
              <a:rPr lang="en-US" dirty="0">
                <a:latin typeface="Arial" panose="020B0604020202020204" pitchFamily="34" charset="0"/>
                <a:cs typeface="Arial" panose="020B0604020202020204" pitchFamily="34" charset="0"/>
              </a:rPr>
              <a:t>C&amp;C </a:t>
            </a:r>
            <a:r>
              <a:rPr lang="vi-VN" b="0" i="0" dirty="0">
                <a:effectLst/>
              </a:rPr>
              <a:t>thường có nhịp đều</a:t>
            </a:r>
            <a:r>
              <a:rPr lang="en-US" b="0" i="0" dirty="0">
                <a:effectLst/>
              </a:rPr>
              <a:t> </a:t>
            </a:r>
            <a:r>
              <a:rPr lang="en-US" b="0" i="0" dirty="0">
                <a:effectLst/>
                <a:latin typeface="Arial" panose="020B0604020202020204" pitchFamily="34" charset="0"/>
                <a:cs typeface="Arial" panose="020B0604020202020204" pitchFamily="34" charset="0"/>
              </a:rPr>
              <a:t>(heartbeat)</a:t>
            </a:r>
            <a:r>
              <a:rPr lang="vi-VN" b="0" i="0" dirty="0">
                <a:effectLst/>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1574568" y="1071540"/>
            <a:ext cx="9942518" cy="913839"/>
          </a:xfrm>
          <a:prstGeom prst="rect">
            <a:avLst/>
          </a:prstGeom>
          <a:noFill/>
          <a:ln/>
        </p:spPr>
        <p:txBody>
          <a:bodyPr wrap="square" lIns="0" tIns="0" rIns="0" bIns="0" rtlCol="0" anchor="t"/>
          <a:lstStyle/>
          <a:p>
            <a:pPr marL="0" indent="0" algn="l">
              <a:lnSpc>
                <a:spcPts val="5650"/>
              </a:lnSpc>
              <a:buNone/>
            </a:pPr>
            <a:r>
              <a:rPr lang="en-US" sz="4500" dirty="0">
                <a:solidFill>
                  <a:schemeClr val="bg1"/>
                </a:solidFill>
                <a:latin typeface="Arial" panose="020B0604020202020204" pitchFamily="34" charset="0"/>
                <a:ea typeface="PT Serif" pitchFamily="34" charset="-122"/>
                <a:cs typeface="Arial" panose="020B0604020202020204" pitchFamily="34" charset="0"/>
              </a:rPr>
              <a:t>DDoS</a:t>
            </a:r>
            <a:endParaRPr lang="en-US" sz="4500" dirty="0">
              <a:solidFill>
                <a:schemeClr val="bg1"/>
              </a:solidFill>
              <a:latin typeface="Arial" panose="020B0604020202020204" pitchFamily="34" charset="0"/>
              <a:cs typeface="Arial" panose="020B0604020202020204" pitchFamily="34" charset="0"/>
            </a:endParaRPr>
          </a:p>
        </p:txBody>
      </p:sp>
      <p:sp>
        <p:nvSpPr>
          <p:cNvPr id="4" name="Shape 1"/>
          <p:cNvSpPr/>
          <p:nvPr/>
        </p:nvSpPr>
        <p:spPr>
          <a:xfrm>
            <a:off x="576943" y="2807264"/>
            <a:ext cx="13284432" cy="1619608"/>
          </a:xfrm>
          <a:prstGeom prst="roundRect">
            <a:avLst>
              <a:gd name="adj" fmla="val 984"/>
            </a:avLst>
          </a:prstGeom>
          <a:solidFill>
            <a:srgbClr val="F2EEEE"/>
          </a:solidFill>
          <a:ln/>
        </p:spPr>
        <p:txBody>
          <a:bodyPr/>
          <a:lstStyle/>
          <a:p>
            <a:endParaRPr lang="en-US">
              <a:latin typeface="Arial" panose="020B0604020202020204" pitchFamily="34" charset="0"/>
              <a:cs typeface="Arial" panose="020B0604020202020204" pitchFamily="34" charset="0"/>
            </a:endParaRPr>
          </a:p>
        </p:txBody>
      </p:sp>
      <p:sp>
        <p:nvSpPr>
          <p:cNvPr id="6" name="Text 3"/>
          <p:cNvSpPr/>
          <p:nvPr/>
        </p:nvSpPr>
        <p:spPr>
          <a:xfrm>
            <a:off x="1378625" y="2957919"/>
            <a:ext cx="11248804" cy="1298395"/>
          </a:xfrm>
          <a:prstGeom prst="rect">
            <a:avLst/>
          </a:prstGeom>
          <a:noFill/>
          <a:ln/>
        </p:spPr>
        <p:txBody>
          <a:bodyPr wrap="square" lIns="0" tIns="0" rIns="0" bIns="0" rtlCol="0" anchor="t"/>
          <a:lstStyle/>
          <a:p>
            <a:pPr>
              <a:lnSpc>
                <a:spcPts val="2700"/>
              </a:lnSpc>
            </a:pPr>
            <a:r>
              <a:rPr lang="en-US" dirty="0">
                <a:solidFill>
                  <a:srgbClr val="020202"/>
                </a:solidFill>
                <a:latin typeface="Arial" panose="020B0604020202020204" pitchFamily="34" charset="0"/>
                <a:ea typeface="PT Serif" pitchFamily="34" charset="-122"/>
                <a:cs typeface="Arial" panose="020B0604020202020204" pitchFamily="34" charset="0"/>
              </a:rPr>
              <a:t>Distributed Denial of Service (</a:t>
            </a:r>
            <a:r>
              <a:rPr lang="en-US" dirty="0" err="1">
                <a:solidFill>
                  <a:srgbClr val="383838"/>
                </a:solidFill>
                <a:latin typeface="Arial" panose="020B0604020202020204" pitchFamily="34" charset="0"/>
                <a:ea typeface="PT Serif" pitchFamily="34" charset="-122"/>
                <a:cs typeface="Arial" panose="020B0604020202020204" pitchFamily="34" charset="0"/>
              </a:rPr>
              <a:t>t</a:t>
            </a:r>
            <a:r>
              <a:rPr lang="en-US" dirty="0" err="1">
                <a:solidFill>
                  <a:srgbClr val="383838"/>
                </a:solidFill>
                <a:latin typeface="Arial" panose="020B0604020202020204" pitchFamily="34" charset="0"/>
                <a:ea typeface="DM Sans" pitchFamily="34" charset="-122"/>
                <a:cs typeface="Arial" panose="020B0604020202020204" pitchFamily="34" charset="0"/>
              </a:rPr>
              <a:t>ấn</a:t>
            </a:r>
            <a:r>
              <a:rPr lang="en-US" dirty="0">
                <a:solidFill>
                  <a:srgbClr val="383838"/>
                </a:solidFill>
                <a:latin typeface="Arial" panose="020B0604020202020204" pitchFamily="34" charset="0"/>
                <a:ea typeface="DM Sans" pitchFamily="34" charset="-122"/>
                <a:cs typeface="Arial" panose="020B0604020202020204" pitchFamily="34" charset="0"/>
              </a:rPr>
              <a:t> công từ chối dịch vụ </a:t>
            </a:r>
            <a:r>
              <a:rPr lang="en-US" dirty="0" err="1">
                <a:solidFill>
                  <a:srgbClr val="383838"/>
                </a:solidFill>
                <a:latin typeface="Arial" panose="020B0604020202020204" pitchFamily="34" charset="0"/>
                <a:ea typeface="DM Sans" pitchFamily="34" charset="-122"/>
                <a:cs typeface="Arial" panose="020B0604020202020204" pitchFamily="34" charset="0"/>
              </a:rPr>
              <a:t>phân</a:t>
            </a:r>
            <a:r>
              <a:rPr lang="en-US" dirty="0">
                <a:solidFill>
                  <a:srgbClr val="383838"/>
                </a:solidFill>
                <a:latin typeface="Arial" panose="020B0604020202020204" pitchFamily="34" charset="0"/>
                <a:ea typeface="DM Sans" pitchFamily="34" charset="-122"/>
                <a:cs typeface="Arial" panose="020B0604020202020204" pitchFamily="34" charset="0"/>
              </a:rPr>
              <a:t> </a:t>
            </a:r>
            <a:r>
              <a:rPr lang="en-US" dirty="0" err="1">
                <a:solidFill>
                  <a:srgbClr val="383838"/>
                </a:solidFill>
                <a:latin typeface="Arial" panose="020B0604020202020204" pitchFamily="34" charset="0"/>
                <a:ea typeface="DM Sans" pitchFamily="34" charset="-122"/>
                <a:cs typeface="Arial" panose="020B0604020202020204" pitchFamily="34" charset="0"/>
              </a:rPr>
              <a:t>tán</a:t>
            </a:r>
            <a:r>
              <a:rPr lang="en-US" dirty="0">
                <a:solidFill>
                  <a:srgbClr val="383838"/>
                </a:solidFill>
                <a:latin typeface="Arial" panose="020B0604020202020204" pitchFamily="34" charset="0"/>
                <a:ea typeface="DM Sans" pitchFamily="34" charset="-122"/>
                <a:cs typeface="Arial" panose="020B0604020202020204" pitchFamily="34" charset="0"/>
              </a:rPr>
              <a:t>). </a:t>
            </a:r>
            <a:r>
              <a:rPr lang="vi-VN" dirty="0"/>
              <a:t>Đây là một kiểu tấn công mạng nhằm làm cho một website hoặc hệ thống bị quá tải và không hoạt động được. </a:t>
            </a:r>
            <a:r>
              <a:rPr lang="en-US" dirty="0">
                <a:solidFill>
                  <a:srgbClr val="383838"/>
                </a:solidFill>
                <a:latin typeface="Arial" panose="020B0604020202020204" pitchFamily="34" charset="0"/>
                <a:ea typeface="DM Sans" pitchFamily="34" charset="-122"/>
                <a:cs typeface="Arial" panose="020B0604020202020204" pitchFamily="34" charset="0"/>
              </a:rPr>
              <a:t>Thay vì dùng một máy, tin tặc điều khiển hàng nghìn đến hàng triệu thiết bị bị nhiễm mã độc (Botnet) để cùng lúc dội bom lưu lượng vào một mục tiêu.</a:t>
            </a:r>
            <a:endParaRPr lang="en-US" dirty="0">
              <a:latin typeface="Arial" panose="020B0604020202020204" pitchFamily="34" charset="0"/>
              <a:cs typeface="Arial" panose="020B0604020202020204" pitchFamily="34" charset="0"/>
            </a:endParaRPr>
          </a:p>
        </p:txBody>
      </p:sp>
      <p:sp>
        <p:nvSpPr>
          <p:cNvPr id="10" name="Shape 7"/>
          <p:cNvSpPr/>
          <p:nvPr/>
        </p:nvSpPr>
        <p:spPr>
          <a:xfrm>
            <a:off x="576943" y="4741014"/>
            <a:ext cx="13284432" cy="1619607"/>
          </a:xfrm>
          <a:prstGeom prst="roundRect">
            <a:avLst>
              <a:gd name="adj" fmla="val 2035"/>
            </a:avLst>
          </a:prstGeom>
          <a:solidFill>
            <a:srgbClr val="F2EEEE"/>
          </a:solidFill>
          <a:ln/>
        </p:spPr>
        <p:txBody>
          <a:bodyPr/>
          <a:lstStyle/>
          <a:p>
            <a:endParaRPr lang="en-US" dirty="0">
              <a:latin typeface="Arial" panose="020B0604020202020204" pitchFamily="34" charset="0"/>
              <a:cs typeface="Arial" panose="020B0604020202020204" pitchFamily="34" charset="0"/>
            </a:endParaRPr>
          </a:p>
        </p:txBody>
      </p:sp>
      <p:sp>
        <p:nvSpPr>
          <p:cNvPr id="12" name="Text 9"/>
          <p:cNvSpPr/>
          <p:nvPr/>
        </p:nvSpPr>
        <p:spPr>
          <a:xfrm>
            <a:off x="1378625" y="4910855"/>
            <a:ext cx="8645162" cy="692229"/>
          </a:xfrm>
          <a:prstGeom prst="rect">
            <a:avLst/>
          </a:prstGeom>
          <a:noFill/>
          <a:ln/>
        </p:spPr>
        <p:txBody>
          <a:bodyPr wrap="square" lIns="0" tIns="0" rIns="0" bIns="0" rtlCol="0" anchor="t"/>
          <a:lstStyle/>
          <a:p>
            <a:pPr>
              <a:lnSpc>
                <a:spcPts val="2700"/>
              </a:lnSpc>
            </a:pPr>
            <a:r>
              <a:rPr lang="en-US" sz="1700" dirty="0">
                <a:solidFill>
                  <a:srgbClr val="383838"/>
                </a:solidFill>
                <a:latin typeface="Arial" panose="020B0604020202020204" pitchFamily="34" charset="0"/>
                <a:ea typeface="DM Sans" pitchFamily="34" charset="-122"/>
                <a:cs typeface="Arial" panose="020B0604020202020204" pitchFamily="34" charset="0"/>
              </a:rPr>
              <a:t>Cuộc </a:t>
            </a:r>
            <a:r>
              <a:rPr lang="en-US" sz="1700" dirty="0" err="1">
                <a:solidFill>
                  <a:srgbClr val="383838"/>
                </a:solidFill>
                <a:latin typeface="Arial" panose="020B0604020202020204" pitchFamily="34" charset="0"/>
                <a:ea typeface="DM Sans" pitchFamily="34" charset="-122"/>
                <a:cs typeface="Arial" panose="020B0604020202020204" pitchFamily="34" charset="0"/>
              </a:rPr>
              <a:t>tấn</a:t>
            </a:r>
            <a:r>
              <a:rPr lang="en-US" sz="1700" dirty="0">
                <a:solidFill>
                  <a:srgbClr val="383838"/>
                </a:solidFill>
                <a:latin typeface="Arial" panose="020B0604020202020204" pitchFamily="34" charset="0"/>
                <a:ea typeface="DM Sans" pitchFamily="34" charset="-122"/>
                <a:cs typeface="Arial" panose="020B0604020202020204" pitchFamily="34" charset="0"/>
              </a:rPr>
              <a:t> </a:t>
            </a:r>
            <a:r>
              <a:rPr lang="en-US" sz="1700" dirty="0" err="1">
                <a:solidFill>
                  <a:srgbClr val="383838"/>
                </a:solidFill>
                <a:latin typeface="Arial" panose="020B0604020202020204" pitchFamily="34" charset="0"/>
                <a:ea typeface="DM Sans" pitchFamily="34" charset="-122"/>
                <a:cs typeface="Arial" panose="020B0604020202020204" pitchFamily="34" charset="0"/>
              </a:rPr>
              <a:t>công</a:t>
            </a:r>
            <a:r>
              <a:rPr lang="en-US" sz="1700" dirty="0">
                <a:solidFill>
                  <a:srgbClr val="383838"/>
                </a:solidFill>
                <a:latin typeface="Arial" panose="020B0604020202020204" pitchFamily="34" charset="0"/>
                <a:ea typeface="DM Sans" pitchFamily="34" charset="-122"/>
                <a:cs typeface="Arial" panose="020B0604020202020204" pitchFamily="34" charset="0"/>
              </a:rPr>
              <a:t> </a:t>
            </a:r>
            <a:r>
              <a:rPr lang="en-US" sz="1700" dirty="0" err="1">
                <a:solidFill>
                  <a:srgbClr val="383838"/>
                </a:solidFill>
                <a:latin typeface="Arial" panose="020B0604020202020204" pitchFamily="34" charset="0"/>
                <a:ea typeface="DM Sans" pitchFamily="34" charset="-122"/>
                <a:cs typeface="Arial" panose="020B0604020202020204" pitchFamily="34" charset="0"/>
              </a:rPr>
              <a:t>vào</a:t>
            </a:r>
            <a:r>
              <a:rPr lang="en-US" sz="1700" dirty="0">
                <a:solidFill>
                  <a:srgbClr val="383838"/>
                </a:solidFill>
                <a:latin typeface="Arial" panose="020B0604020202020204" pitchFamily="34" charset="0"/>
                <a:ea typeface="DM Sans" pitchFamily="34" charset="-122"/>
                <a:cs typeface="Arial" panose="020B0604020202020204" pitchFamily="34" charset="0"/>
              </a:rPr>
              <a:t> Dyn (2016) </a:t>
            </a:r>
            <a:r>
              <a:rPr lang="en-US" sz="1700" dirty="0" err="1">
                <a:solidFill>
                  <a:srgbClr val="383838"/>
                </a:solidFill>
                <a:latin typeface="Arial" panose="020B0604020202020204" pitchFamily="34" charset="0"/>
                <a:ea typeface="DM Sans" pitchFamily="34" charset="-122"/>
                <a:cs typeface="Arial" panose="020B0604020202020204" pitchFamily="34" charset="0"/>
              </a:rPr>
              <a:t>bởi</a:t>
            </a:r>
            <a:r>
              <a:rPr lang="en-US" sz="1700" dirty="0">
                <a:solidFill>
                  <a:srgbClr val="383838"/>
                </a:solidFill>
                <a:latin typeface="Arial" panose="020B0604020202020204" pitchFamily="34" charset="0"/>
                <a:ea typeface="DM Sans" pitchFamily="34" charset="-122"/>
                <a:cs typeface="Arial" panose="020B0604020202020204" pitchFamily="34" charset="0"/>
              </a:rPr>
              <a:t> </a:t>
            </a:r>
            <a:r>
              <a:rPr lang="en-US" sz="1700" dirty="0" err="1">
                <a:solidFill>
                  <a:srgbClr val="383838"/>
                </a:solidFill>
                <a:latin typeface="Arial" panose="020B0604020202020204" pitchFamily="34" charset="0"/>
                <a:ea typeface="DM Sans" pitchFamily="34" charset="-122"/>
                <a:cs typeface="Arial" panose="020B0604020202020204" pitchFamily="34" charset="0"/>
              </a:rPr>
              <a:t>mã</a:t>
            </a:r>
            <a:r>
              <a:rPr lang="en-US" sz="1700" dirty="0">
                <a:solidFill>
                  <a:srgbClr val="383838"/>
                </a:solidFill>
                <a:latin typeface="Arial" panose="020B0604020202020204" pitchFamily="34" charset="0"/>
                <a:ea typeface="DM Sans" pitchFamily="34" charset="-122"/>
                <a:cs typeface="Arial" panose="020B0604020202020204" pitchFamily="34" charset="0"/>
              </a:rPr>
              <a:t> </a:t>
            </a:r>
            <a:r>
              <a:rPr lang="en-US" sz="1700" dirty="0" err="1">
                <a:solidFill>
                  <a:srgbClr val="383838"/>
                </a:solidFill>
                <a:latin typeface="Arial" panose="020B0604020202020204" pitchFamily="34" charset="0"/>
                <a:ea typeface="DM Sans" pitchFamily="34" charset="-122"/>
                <a:cs typeface="Arial" panose="020B0604020202020204" pitchFamily="34" charset="0"/>
              </a:rPr>
              <a:t>độc</a:t>
            </a:r>
            <a:r>
              <a:rPr lang="en-US" sz="1700" dirty="0">
                <a:solidFill>
                  <a:srgbClr val="383838"/>
                </a:solidFill>
                <a:latin typeface="Arial" panose="020B0604020202020204" pitchFamily="34" charset="0"/>
                <a:ea typeface="DM Sans" pitchFamily="34" charset="-122"/>
                <a:cs typeface="Arial" panose="020B0604020202020204" pitchFamily="34" charset="0"/>
              </a:rPr>
              <a:t> Mirai.</a:t>
            </a:r>
            <a:endParaRPr lang="en-US" sz="1700" dirty="0">
              <a:latin typeface="Arial" panose="020B0604020202020204" pitchFamily="34" charset="0"/>
              <a:cs typeface="Arial" panose="020B0604020202020204" pitchFamily="34" charset="0"/>
            </a:endParaRPr>
          </a:p>
          <a:p>
            <a:pPr>
              <a:lnSpc>
                <a:spcPts val="2700"/>
              </a:lnSpc>
            </a:pPr>
            <a:r>
              <a:rPr lang="en-US" sz="1700" dirty="0">
                <a:solidFill>
                  <a:srgbClr val="383838"/>
                </a:solidFill>
                <a:latin typeface="Arial" panose="020B0604020202020204" pitchFamily="34" charset="0"/>
                <a:ea typeface="DM Sans" pitchFamily="34" charset="-122"/>
                <a:cs typeface="Arial" panose="020B0604020202020204" pitchFamily="34" charset="0"/>
              </a:rPr>
              <a:t>Làm sập các dịch vụ khổng lồ như Twitter, Reddit, Netflix trong nhiều giờ. </a:t>
            </a:r>
          </a:p>
          <a:p>
            <a:pPr>
              <a:lnSpc>
                <a:spcPts val="2700"/>
              </a:lnSpc>
            </a:pPr>
            <a:r>
              <a:rPr lang="en-US" sz="1700" dirty="0" err="1">
                <a:solidFill>
                  <a:srgbClr val="383838"/>
                </a:solidFill>
                <a:latin typeface="Arial" panose="020B0604020202020204" pitchFamily="34" charset="0"/>
                <a:ea typeface="DM Sans" pitchFamily="34" charset="-122"/>
                <a:cs typeface="Arial" panose="020B0604020202020204" pitchFamily="34" charset="0"/>
              </a:rPr>
              <a:t>Gây</a:t>
            </a:r>
            <a:r>
              <a:rPr lang="en-US" sz="1700" dirty="0">
                <a:solidFill>
                  <a:srgbClr val="383838"/>
                </a:solidFill>
                <a:latin typeface="Arial" panose="020B0604020202020204" pitchFamily="34" charset="0"/>
                <a:ea typeface="DM Sans" pitchFamily="34" charset="-122"/>
                <a:cs typeface="Arial" panose="020B0604020202020204" pitchFamily="34" charset="0"/>
              </a:rPr>
              <a:t> thiệt hại hàng triệu USD và làm gián đoạn liên lạc toàn cầu.</a:t>
            </a:r>
            <a:endParaRPr lang="en-US" sz="1700" dirty="0">
              <a:latin typeface="Arial" panose="020B0604020202020204" pitchFamily="34" charset="0"/>
              <a:cs typeface="Arial" panose="020B0604020202020204" pitchFamily="34" charset="0"/>
            </a:endParaRPr>
          </a:p>
        </p:txBody>
      </p:sp>
      <p:sp>
        <p:nvSpPr>
          <p:cNvPr id="2" name="Shape 7">
            <a:extLst>
              <a:ext uri="{FF2B5EF4-FFF2-40B4-BE49-F238E27FC236}">
                <a16:creationId xmlns:a16="http://schemas.microsoft.com/office/drawing/2014/main" id="{200D4EBC-7667-C109-9475-2EC96EE08A26}"/>
              </a:ext>
            </a:extLst>
          </p:cNvPr>
          <p:cNvSpPr/>
          <p:nvPr/>
        </p:nvSpPr>
        <p:spPr>
          <a:xfrm>
            <a:off x="576943" y="6513021"/>
            <a:ext cx="13284432" cy="1619607"/>
          </a:xfrm>
          <a:prstGeom prst="roundRect">
            <a:avLst>
              <a:gd name="adj" fmla="val 2035"/>
            </a:avLst>
          </a:prstGeom>
          <a:solidFill>
            <a:srgbClr val="F2EEEE"/>
          </a:solidFill>
          <a:ln/>
        </p:spPr>
        <p:txBody>
          <a:bodyPr/>
          <a:lstStyle/>
          <a:p>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7EF985F-F2AC-F69E-4F92-34CCFFF447CC}"/>
              </a:ext>
            </a:extLst>
          </p:cNvPr>
          <p:cNvSpPr txBox="1"/>
          <p:nvPr/>
        </p:nvSpPr>
        <p:spPr>
          <a:xfrm>
            <a:off x="1295398" y="6861159"/>
            <a:ext cx="9296401" cy="923330"/>
          </a:xfrm>
          <a:prstGeom prst="rect">
            <a:avLst/>
          </a:prstGeom>
          <a:noFill/>
        </p:spPr>
        <p:txBody>
          <a:bodyPr wrap="square">
            <a:spAutoFit/>
          </a:bodyPr>
          <a:lstStyle/>
          <a:p>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vi-VN" b="0" i="0" dirty="0">
                <a:effectLst/>
                <a:latin typeface="Arial" panose="020B0604020202020204" pitchFamily="34" charset="0"/>
                <a:cs typeface="Arial" panose="020B0604020202020204" pitchFamily="34" charset="0"/>
              </a:rPr>
              <a:t>Cùng một hành vi tấn công đến từ nhiều địa chỉ IP, nhiều vị trí địa lý.</a:t>
            </a:r>
            <a:endParaRPr lang="en-US" b="0" i="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vi-VN" b="0" i="0" dirty="0">
                <a:effectLst/>
                <a:latin typeface="Arial" panose="020B0604020202020204" pitchFamily="34" charset="0"/>
                <a:cs typeface="Arial" panose="020B0604020202020204" pitchFamily="34" charset="0"/>
              </a:rPr>
              <a:t>Lưu lượng vào vượt quá khả năng đường truyền, gây tắc nghẽn.</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4628" y="597218"/>
            <a:ext cx="8707517" cy="616268"/>
          </a:xfrm>
          <a:prstGeom prst="rect">
            <a:avLst/>
          </a:prstGeom>
          <a:noFill/>
          <a:ln/>
        </p:spPr>
        <p:txBody>
          <a:bodyPr wrap="none" lIns="0" tIns="0" rIns="0" bIns="0" rtlCol="0" anchor="t"/>
          <a:lstStyle/>
          <a:p>
            <a:pPr marL="0" indent="0" algn="l">
              <a:lnSpc>
                <a:spcPts val="4850"/>
              </a:lnSpc>
              <a:buNone/>
            </a:pPr>
            <a:endParaRPr lang="en-US" sz="3850" dirty="0">
              <a:latin typeface="Arial" panose="020B0604020202020204" pitchFamily="34" charset="0"/>
              <a:cs typeface="Arial" panose="020B0604020202020204" pitchFamily="34" charset="0"/>
            </a:endParaRPr>
          </a:p>
        </p:txBody>
      </p:sp>
      <p:sp>
        <p:nvSpPr>
          <p:cNvPr id="4" name="Text 2"/>
          <p:cNvSpPr/>
          <p:nvPr/>
        </p:nvSpPr>
        <p:spPr>
          <a:xfrm>
            <a:off x="1467785" y="3249221"/>
            <a:ext cx="11976073" cy="1616693"/>
          </a:xfrm>
          <a:prstGeom prst="rect">
            <a:avLst/>
          </a:prstGeom>
          <a:noFill/>
          <a:ln/>
        </p:spPr>
        <p:txBody>
          <a:bodyPr wrap="square" lIns="0" tIns="0" rIns="0" bIns="0" rtlCol="0" anchor="t"/>
          <a:lstStyle/>
          <a:p>
            <a:pPr>
              <a:lnSpc>
                <a:spcPct val="150000"/>
              </a:lnSpc>
            </a:pPr>
            <a:r>
              <a:rPr lang="vi-VN" dirty="0"/>
              <a:t>HULK (viết tắt của HTTP Unbearable Load King) là một công cụ tấn công từ chối dịch vụ (DoS) hoạt động ở lớp ứng dụng (Layer 7). </a:t>
            </a:r>
            <a:endParaRPr lang="en-US" dirty="0"/>
          </a:p>
          <a:p>
            <a:pPr>
              <a:lnSpc>
                <a:spcPct val="150000"/>
              </a:lnSpc>
            </a:pPr>
            <a:r>
              <a:rPr lang="vi-VN" dirty="0"/>
              <a:t>Mục tiêu của HULK là làm cạn kiệt tài nguyên của máy chủ web bằng cách gửi một lượng lớn các yêu cầu HTTP tưởng chừng như hợp lệ nhưng lại mang tính "độc hại", khiến máy chủ không thể phục vụ người dùng thật.</a:t>
            </a:r>
            <a:r>
              <a:rPr lang="en-US" dirty="0"/>
              <a:t> </a:t>
            </a:r>
            <a:r>
              <a:rPr lang="vi-VN" dirty="0"/>
              <a:t>Công cụ này giữ kết nối mở và gửi dữ liệu liên tục, ép máy chủ phải chờ đợi và tiêu tốn tài nguyên cho mỗi phiên kết nối.</a:t>
            </a:r>
          </a:p>
        </p:txBody>
      </p:sp>
      <p:sp>
        <p:nvSpPr>
          <p:cNvPr id="10" name="Text 0">
            <a:extLst>
              <a:ext uri="{FF2B5EF4-FFF2-40B4-BE49-F238E27FC236}">
                <a16:creationId xmlns:a16="http://schemas.microsoft.com/office/drawing/2014/main" id="{055583B6-C4F9-DCD4-203F-5BD8BB3BC96D}"/>
              </a:ext>
            </a:extLst>
          </p:cNvPr>
          <p:cNvSpPr/>
          <p:nvPr/>
        </p:nvSpPr>
        <p:spPr>
          <a:xfrm>
            <a:off x="1467785" y="1125187"/>
            <a:ext cx="8707517" cy="616268"/>
          </a:xfrm>
          <a:prstGeom prst="rect">
            <a:avLst/>
          </a:prstGeom>
          <a:noFill/>
          <a:ln/>
        </p:spPr>
        <p:txBody>
          <a:bodyPr wrap="none" lIns="0" tIns="0" rIns="0" bIns="0" rtlCol="0" anchor="t"/>
          <a:lstStyle/>
          <a:p>
            <a:pPr marL="0" indent="0" algn="l">
              <a:lnSpc>
                <a:spcPts val="4850"/>
              </a:lnSpc>
              <a:buNone/>
            </a:pPr>
            <a:r>
              <a:rPr lang="en-US" sz="4800" dirty="0">
                <a:solidFill>
                  <a:schemeClr val="bg1"/>
                </a:solidFill>
                <a:latin typeface="Arial" panose="020B0604020202020204" pitchFamily="34" charset="0"/>
                <a:ea typeface="PT Serif" pitchFamily="34" charset="-122"/>
                <a:cs typeface="Arial" panose="020B0604020202020204" pitchFamily="34" charset="0"/>
              </a:rPr>
              <a:t>DoS Hulk </a:t>
            </a:r>
            <a:endParaRPr lang="en-US" sz="4800" dirty="0">
              <a:solidFill>
                <a:schemeClr val="bg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66806E-56A5-71B8-D1B0-291814D9939F}"/>
              </a:ext>
            </a:extLst>
          </p:cNvPr>
          <p:cNvSpPr txBox="1"/>
          <p:nvPr/>
        </p:nvSpPr>
        <p:spPr>
          <a:xfrm>
            <a:off x="1467785" y="5639500"/>
            <a:ext cx="10702443" cy="1703030"/>
          </a:xfrm>
          <a:prstGeom prst="rect">
            <a:avLst/>
          </a:prstGeom>
          <a:noFill/>
        </p:spPr>
        <p:txBody>
          <a:bodyPr wrap="square">
            <a:spAutoFit/>
          </a:bodyPr>
          <a:lstStyle/>
          <a:p>
            <a:pPr>
              <a:lnSpc>
                <a:spcPct val="150000"/>
              </a:lnSpc>
            </a:pPr>
            <a:r>
              <a:rPr lang="en-US" b="0" i="0" dirty="0" err="1">
                <a:effectLst/>
                <a:latin typeface="Arial" panose="020B0604020202020204" pitchFamily="34" charset="0"/>
                <a:cs typeface="Arial" panose="020B0604020202020204" pitchFamily="34" charset="0"/>
              </a:rPr>
              <a:t>Dấu</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hiệu</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nhận</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biết</a:t>
            </a:r>
            <a:r>
              <a:rPr lang="en-US" b="0" i="0" dirty="0">
                <a:effectLst/>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US" b="0" i="0" dirty="0">
                <a:effectLst/>
                <a:latin typeface="Arial" panose="020B0604020202020204" pitchFamily="34" charset="0"/>
                <a:cs typeface="Arial" panose="020B0604020202020204" pitchFamily="34" charset="0"/>
              </a:rPr>
              <a:t>Nhiều </a:t>
            </a:r>
            <a:r>
              <a:rPr lang="en-US" b="0" i="0" dirty="0" err="1">
                <a:effectLst/>
                <a:latin typeface="Arial" panose="020B0604020202020204" pitchFamily="34" charset="0"/>
                <a:cs typeface="Arial" panose="020B0604020202020204" pitchFamily="34" charset="0"/>
              </a:rPr>
              <a:t>yêu</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cầu</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từ</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một</a:t>
            </a:r>
            <a:r>
              <a:rPr lang="en-US" b="0" i="0" dirty="0">
                <a:effectLst/>
                <a:latin typeface="Arial" panose="020B0604020202020204" pitchFamily="34" charset="0"/>
                <a:cs typeface="Arial" panose="020B0604020202020204" pitchFamily="34" charset="0"/>
              </a:rPr>
              <a:t> IP </a:t>
            </a:r>
            <a:r>
              <a:rPr lang="en-US" b="0" i="0" dirty="0" err="1">
                <a:effectLst/>
                <a:latin typeface="Arial" panose="020B0604020202020204" pitchFamily="34" charset="0"/>
                <a:cs typeface="Arial" panose="020B0604020202020204" pitchFamily="34" charset="0"/>
              </a:rPr>
              <a:t>trong</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thời</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gian</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ngắn</a:t>
            </a:r>
            <a:r>
              <a:rPr lang="en-US" b="0" i="0" dirty="0">
                <a:effectLst/>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US" b="0" i="0" dirty="0">
                <a:effectLst/>
                <a:latin typeface="Arial" panose="020B0604020202020204" pitchFamily="34" charset="0"/>
                <a:cs typeface="Arial" panose="020B0604020202020204" pitchFamily="34" charset="0"/>
              </a:rPr>
              <a:t>Liên </a:t>
            </a:r>
            <a:r>
              <a:rPr lang="en-US" b="0" i="0" dirty="0" err="1">
                <a:effectLst/>
                <a:latin typeface="Arial" panose="020B0604020202020204" pitchFamily="34" charset="0"/>
                <a:cs typeface="Arial" panose="020B0604020202020204" pitchFamily="34" charset="0"/>
              </a:rPr>
              <a:t>tục</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thay</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đổi</a:t>
            </a:r>
            <a:r>
              <a:rPr lang="en-US" b="0" i="0" dirty="0">
                <a:effectLst/>
                <a:latin typeface="Arial" panose="020B0604020202020204" pitchFamily="34" charset="0"/>
                <a:cs typeface="Arial" panose="020B0604020202020204" pitchFamily="34" charset="0"/>
              </a:rPr>
              <a:t> User-Agent </a:t>
            </a:r>
            <a:r>
              <a:rPr lang="en-US" b="0" i="0" dirty="0" err="1">
                <a:effectLst/>
                <a:latin typeface="Arial" panose="020B0604020202020204" pitchFamily="34" charset="0"/>
                <a:cs typeface="Arial" panose="020B0604020202020204" pitchFamily="34" charset="0"/>
              </a:rPr>
              <a:t>trong</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mỗi</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yêu</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cầu</a:t>
            </a:r>
            <a:r>
              <a:rPr lang="en-US" b="0" i="0" dirty="0">
                <a:effectLs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Header </a:t>
            </a:r>
            <a:r>
              <a:rPr lang="en-US" dirty="0" err="1">
                <a:latin typeface="Arial" panose="020B0604020202020204" pitchFamily="34" charset="0"/>
                <a:cs typeface="Arial" panose="020B0604020202020204" pitchFamily="34" charset="0"/>
              </a:rPr>
              <a:t>lặp</a:t>
            </a:r>
            <a:r>
              <a:rPr lang="en-US" dirty="0">
                <a:latin typeface="Arial" panose="020B0604020202020204" pitchFamily="34" charset="0"/>
                <a:cs typeface="Arial" panose="020B0604020202020204" pitchFamily="34" charset="0"/>
              </a:rPr>
              <a:t>, URL </a:t>
            </a:r>
            <a:r>
              <a:rPr lang="en-US" dirty="0" err="1">
                <a:latin typeface="Arial" panose="020B0604020202020204" pitchFamily="34" charset="0"/>
                <a:cs typeface="Arial" panose="020B0604020202020204" pitchFamily="34" charset="0"/>
              </a:rPr>
              <a:t>ngẫu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nhiên</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566676" y="965631"/>
            <a:ext cx="5954197" cy="744260"/>
          </a:xfrm>
          <a:prstGeom prst="rect">
            <a:avLst/>
          </a:prstGeom>
          <a:noFill/>
          <a:ln/>
        </p:spPr>
        <p:txBody>
          <a:bodyPr wrap="none" lIns="0" tIns="0" rIns="0" bIns="0" rtlCol="0" anchor="t"/>
          <a:lstStyle/>
          <a:p>
            <a:pPr marL="0" indent="0" algn="l">
              <a:lnSpc>
                <a:spcPts val="5850"/>
              </a:lnSpc>
              <a:buNone/>
            </a:pPr>
            <a:r>
              <a:rPr lang="en-US" sz="4650" dirty="0">
                <a:solidFill>
                  <a:schemeClr val="bg1"/>
                </a:solidFill>
                <a:latin typeface="Arial" panose="020B0604020202020204" pitchFamily="34" charset="0"/>
                <a:ea typeface="PT Serif" pitchFamily="34" charset="-122"/>
                <a:cs typeface="Arial" panose="020B0604020202020204" pitchFamily="34" charset="0"/>
              </a:rPr>
              <a:t>DoS GoldenEye</a:t>
            </a:r>
            <a:endParaRPr lang="en-US" sz="4650"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793790" y="2273022"/>
            <a:ext cx="2977039" cy="372070"/>
          </a:xfrm>
          <a:prstGeom prst="rect">
            <a:avLst/>
          </a:prstGeom>
          <a:noFill/>
          <a:ln/>
        </p:spPr>
        <p:txBody>
          <a:bodyPr wrap="none" lIns="0" tIns="0" rIns="0" bIns="0" rtlCol="0" anchor="t"/>
          <a:lstStyle/>
          <a:p>
            <a:pPr marL="0" indent="0" algn="l">
              <a:lnSpc>
                <a:spcPts val="2900"/>
              </a:lnSpc>
              <a:buNone/>
            </a:pPr>
            <a:endParaRPr lang="en-US" sz="2300" dirty="0">
              <a:latin typeface="Arial" panose="020B0604020202020204" pitchFamily="34" charset="0"/>
              <a:cs typeface="Arial" panose="020B0604020202020204" pitchFamily="34" charset="0"/>
            </a:endParaRPr>
          </a:p>
        </p:txBody>
      </p:sp>
      <p:sp>
        <p:nvSpPr>
          <p:cNvPr id="4" name="Text 2"/>
          <p:cNvSpPr/>
          <p:nvPr/>
        </p:nvSpPr>
        <p:spPr>
          <a:xfrm>
            <a:off x="1708190" y="2871906"/>
            <a:ext cx="11115181" cy="2516523"/>
          </a:xfrm>
          <a:prstGeom prst="rect">
            <a:avLst/>
          </a:prstGeom>
          <a:noFill/>
          <a:ln/>
        </p:spPr>
        <p:txBody>
          <a:bodyPr wrap="square" lIns="0" tIns="0" rIns="0" bIns="0" rtlCol="0" anchor="t"/>
          <a:lstStyle/>
          <a:p>
            <a:pPr>
              <a:lnSpc>
                <a:spcPct val="150000"/>
              </a:lnSpc>
            </a:pPr>
            <a:r>
              <a:rPr lang="en-US" sz="1750" dirty="0">
                <a:solidFill>
                  <a:srgbClr val="383838"/>
                </a:solidFill>
                <a:latin typeface="Arial" panose="020B0604020202020204" pitchFamily="34" charset="0"/>
                <a:ea typeface="DM Sans" pitchFamily="34" charset="-122"/>
                <a:cs typeface="Arial" panose="020B0604020202020204" pitchFamily="34" charset="0"/>
              </a:rPr>
              <a:t>Tương tự như Hulk nhưng tập trung vào việc tiêu thụ hết các "sockets" (kết nối) của máy chủ bằng cách duy trì các kết nối HTTP Keep-Alive. </a:t>
            </a:r>
          </a:p>
          <a:p>
            <a:pPr>
              <a:lnSpc>
                <a:spcPct val="150000"/>
              </a:lnSpc>
            </a:pPr>
            <a:r>
              <a:rPr lang="vi-VN" dirty="0"/>
              <a:t>Bình thường, một kết nối HTTP sẽ đóng lại sau khi tải xong trang. Tuy nhiên, với tiêu đề Keep-Alive, trình duyệt và máy chủ có thể giữ kết nối mở để tái sử dụng cho các yêu cầu sau, giúp tăng tốc độ tải trang. GoldenEye lợi dụng cơ chế này, nó mở hàng nghìn kết nối đồng thời và liên tục gửi các yêu cầu với tiêu đề NoCache (để bỏ qua bộ nhớ đệm) qua chính các kết nối đang mở đó. </a:t>
            </a:r>
            <a:endParaRPr lang="en-US" sz="175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EC2760B-6CFC-5CFD-A058-6580FA504358}"/>
              </a:ext>
            </a:extLst>
          </p:cNvPr>
          <p:cNvSpPr txBox="1"/>
          <p:nvPr/>
        </p:nvSpPr>
        <p:spPr>
          <a:xfrm>
            <a:off x="1708190" y="5673281"/>
            <a:ext cx="9155753" cy="2118529"/>
          </a:xfrm>
          <a:prstGeom prst="rect">
            <a:avLst/>
          </a:prstGeom>
          <a:noFill/>
        </p:spPr>
        <p:txBody>
          <a:bodyPr wrap="square">
            <a:spAutoFit/>
          </a:bodyPr>
          <a:lstStyle/>
          <a:p>
            <a:pPr>
              <a:lnSpc>
                <a:spcPct val="150000"/>
              </a:lnSpc>
            </a:pPr>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lnSpc>
                <a:spcPct val="150000"/>
              </a:lnSpc>
              <a:buFont typeface="Arial" panose="020B0604020202020204" pitchFamily="34" charset="0"/>
              <a:buChar char="•"/>
            </a:pPr>
            <a:r>
              <a:rPr lang="vi-VN" b="0" i="0" dirty="0">
                <a:effectLst/>
                <a:latin typeface="Arial" panose="020B0604020202020204" pitchFamily="34" charset="0"/>
                <a:cs typeface="Arial" panose="020B0604020202020204" pitchFamily="34" charset="0"/>
              </a:rPr>
              <a:t>Số lượng gói tin không lớn, nhưng số lượng </a:t>
            </a:r>
            <a:r>
              <a:rPr lang="vi-VN" i="0" dirty="0">
                <a:effectLst/>
                <a:latin typeface="Arial" panose="020B0604020202020204" pitchFamily="34" charset="0"/>
                <a:cs typeface="Arial" panose="020B0604020202020204" pitchFamily="34" charset="0"/>
              </a:rPr>
              <a:t>kết nối TCP ở trạng thái</a:t>
            </a:r>
            <a:r>
              <a:rPr lang="en-US" i="0" dirty="0">
                <a:effectLst/>
                <a:latin typeface="Arial" panose="020B0604020202020204" pitchFamily="34" charset="0"/>
                <a:cs typeface="Arial" panose="020B0604020202020204" pitchFamily="34" charset="0"/>
              </a:rPr>
              <a:t> </a:t>
            </a:r>
            <a:r>
              <a:rPr lang="vi-VN" i="0" dirty="0">
                <a:effectLst/>
                <a:latin typeface="Arial" panose="020B0604020202020204" pitchFamily="34" charset="0"/>
                <a:cs typeface="Arial" panose="020B0604020202020204" pitchFamily="34" charset="0"/>
              </a:rPr>
              <a:t>ESTABLISHED rất cao.</a:t>
            </a:r>
            <a:endParaRPr lang="en-US" i="0" dirty="0">
              <a:effectLst/>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vi-VN" b="0" i="0" dirty="0">
                <a:effectLst/>
                <a:latin typeface="Arial" panose="020B0604020202020204" pitchFamily="34" charset="0"/>
                <a:cs typeface="Arial" panose="020B0604020202020204" pitchFamily="34" charset="0"/>
              </a:rPr>
              <a:t>Gửi yêu cầu không hoàn chỉnh hoặc chậm để giữ kết.</a:t>
            </a:r>
            <a:endParaRPr lang="en-US" b="0" i="0" dirty="0">
              <a:effectLst/>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vi-VN" b="0" i="0" dirty="0">
                <a:effectLst/>
                <a:latin typeface="Arial" panose="020B0604020202020204" pitchFamily="34" charset="0"/>
                <a:cs typeface="Arial" panose="020B0604020202020204" pitchFamily="34" charset="0"/>
              </a:rPr>
              <a:t>Gửi dữ liệu đều đặn qua giao thức TCP để tránh timeout</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577391" y="1163002"/>
            <a:ext cx="6354961" cy="604599"/>
          </a:xfrm>
          <a:prstGeom prst="rect">
            <a:avLst/>
          </a:prstGeom>
          <a:noFill/>
          <a:ln/>
        </p:spPr>
        <p:txBody>
          <a:bodyPr wrap="none" lIns="0" tIns="0" rIns="0" bIns="0" rtlCol="0" anchor="t"/>
          <a:lstStyle/>
          <a:p>
            <a:pPr marL="0" indent="0" algn="l">
              <a:lnSpc>
                <a:spcPts val="4750"/>
              </a:lnSpc>
              <a:buNone/>
            </a:pPr>
            <a:r>
              <a:rPr lang="en-US" sz="4800" dirty="0">
                <a:solidFill>
                  <a:schemeClr val="bg1"/>
                </a:solidFill>
                <a:latin typeface="Arial" panose="020B0604020202020204" pitchFamily="34" charset="0"/>
                <a:ea typeface="PT Serif" pitchFamily="34" charset="-122"/>
                <a:cs typeface="Arial" panose="020B0604020202020204" pitchFamily="34" charset="0"/>
              </a:rPr>
              <a:t>DoS </a:t>
            </a:r>
            <a:r>
              <a:rPr lang="en-US" sz="4800" dirty="0" err="1">
                <a:solidFill>
                  <a:schemeClr val="bg1"/>
                </a:solidFill>
                <a:latin typeface="Arial" panose="020B0604020202020204" pitchFamily="34" charset="0"/>
                <a:ea typeface="PT Serif" pitchFamily="34" charset="-122"/>
                <a:cs typeface="Arial" panose="020B0604020202020204" pitchFamily="34" charset="0"/>
              </a:rPr>
              <a:t>Slowloris</a:t>
            </a:r>
            <a:endParaRPr lang="en-US" sz="4800" dirty="0">
              <a:solidFill>
                <a:schemeClr val="bg1"/>
              </a:solidFill>
              <a:latin typeface="Arial" panose="020B0604020202020204" pitchFamily="34" charset="0"/>
              <a:cs typeface="Arial" panose="020B0604020202020204" pitchFamily="34" charset="0"/>
            </a:endParaRPr>
          </a:p>
        </p:txBody>
      </p:sp>
      <p:sp>
        <p:nvSpPr>
          <p:cNvPr id="3" name="Shape 1">
            <a:extLst>
              <a:ext uri="{FF2B5EF4-FFF2-40B4-BE49-F238E27FC236}">
                <a16:creationId xmlns:a16="http://schemas.microsoft.com/office/drawing/2014/main" id="{9677FC7F-0DD9-0833-9E8D-9A22553AB48B}"/>
              </a:ext>
            </a:extLst>
          </p:cNvPr>
          <p:cNvSpPr/>
          <p:nvPr/>
        </p:nvSpPr>
        <p:spPr>
          <a:xfrm>
            <a:off x="576943" y="3180930"/>
            <a:ext cx="13284432" cy="2305469"/>
          </a:xfrm>
          <a:prstGeom prst="roundRect">
            <a:avLst>
              <a:gd name="adj" fmla="val 984"/>
            </a:avLst>
          </a:prstGeom>
          <a:solidFill>
            <a:srgbClr val="F2EEEE"/>
          </a:solidFill>
          <a:ln/>
        </p:spPr>
        <p:txBody>
          <a:bodyPr/>
          <a:lstStyle/>
          <a:p>
            <a:endParaRPr lang="en-US">
              <a:latin typeface="Arial" panose="020B0604020202020204" pitchFamily="34" charset="0"/>
              <a:cs typeface="Arial" panose="020B0604020202020204" pitchFamily="34" charset="0"/>
            </a:endParaRPr>
          </a:p>
        </p:txBody>
      </p:sp>
      <p:sp>
        <p:nvSpPr>
          <p:cNvPr id="5" name="Text 2"/>
          <p:cNvSpPr/>
          <p:nvPr/>
        </p:nvSpPr>
        <p:spPr>
          <a:xfrm>
            <a:off x="1813270" y="3265569"/>
            <a:ext cx="11410849" cy="2427659"/>
          </a:xfrm>
          <a:prstGeom prst="rect">
            <a:avLst/>
          </a:prstGeom>
          <a:noFill/>
          <a:ln/>
        </p:spPr>
        <p:txBody>
          <a:bodyPr wrap="square" lIns="0" tIns="0" rIns="0" bIns="0" rtlCol="0" anchor="t"/>
          <a:lstStyle/>
          <a:p>
            <a:pPr>
              <a:lnSpc>
                <a:spcPct val="150000"/>
              </a:lnSpc>
            </a:pPr>
            <a:r>
              <a:rPr lang="vi-VN" dirty="0">
                <a:latin typeface="Arial" panose="020B0604020202020204" pitchFamily="34" charset="0"/>
                <a:cs typeface="Arial" panose="020B0604020202020204" pitchFamily="34" charset="0"/>
              </a:rPr>
              <a:t>Kẻ tấn công mở nhiều kết nối TCP đến máy chủ web mục tiêu.</a:t>
            </a:r>
          </a:p>
          <a:p>
            <a:pPr>
              <a:lnSpc>
                <a:spcPct val="150000"/>
              </a:lnSpc>
            </a:pPr>
            <a:r>
              <a:rPr lang="vi-VN" dirty="0">
                <a:latin typeface="Arial" panose="020B0604020202020204" pitchFamily="34" charset="0"/>
                <a:cs typeface="Arial" panose="020B0604020202020204" pitchFamily="34" charset="0"/>
              </a:rPr>
              <a:t>Mỗi kết nối sẽ gửi một yêu cầu HTTP bị cắt xén, chưa bao giờ kết thúc. </a:t>
            </a:r>
            <a:endParaRPr lang="en-US" dirty="0">
              <a:latin typeface="Arial" panose="020B0604020202020204" pitchFamily="34" charset="0"/>
              <a:cs typeface="Arial" panose="020B0604020202020204" pitchFamily="34" charset="0"/>
            </a:endParaRPr>
          </a:p>
          <a:p>
            <a:pPr>
              <a:lnSpc>
                <a:spcPct val="150000"/>
              </a:lnSpc>
            </a:pPr>
            <a:r>
              <a:rPr lang="vi-VN" dirty="0">
                <a:latin typeface="Arial" panose="020B0604020202020204" pitchFamily="34" charset="0"/>
                <a:cs typeface="Arial" panose="020B0604020202020204" pitchFamily="34" charset="0"/>
              </a:rPr>
              <a:t>Để ngăn máy chủ tự động đóng kết nối do hết thời gian chờ (timeout), kẻ tấn công định kỳ gửi thêm các header giả mạo đến máy chủ</a:t>
            </a:r>
            <a:endParaRPr lang="en-US" dirty="0">
              <a:latin typeface="Arial" panose="020B0604020202020204" pitchFamily="34" charset="0"/>
              <a:cs typeface="Arial" panose="020B0604020202020204" pitchFamily="34" charset="0"/>
            </a:endParaRPr>
          </a:p>
          <a:p>
            <a:pPr>
              <a:lnSpc>
                <a:spcPct val="150000"/>
              </a:lnSpc>
            </a:pPr>
            <a:r>
              <a:rPr lang="vi-VN" dirty="0">
                <a:latin typeface="Arial" panose="020B0604020202020204" pitchFamily="34" charset="0"/>
                <a:cs typeface="Arial" panose="020B0604020202020204" pitchFamily="34" charset="0"/>
              </a:rPr>
              <a:t>Vì mỗi kết nối chiếm một luồng xử lý (thread), máy chủ sẽ dần cạn kiệt tài nguyên.</a:t>
            </a:r>
          </a:p>
          <a:p>
            <a:pPr>
              <a:lnSpc>
                <a:spcPts val="2100"/>
              </a:lnSpc>
            </a:pPr>
            <a:endParaRPr lang="en-US" sz="1450" dirty="0">
              <a:latin typeface="Arial" panose="020B0604020202020204" pitchFamily="34" charset="0"/>
              <a:cs typeface="Arial" panose="020B0604020202020204" pitchFamily="34" charset="0"/>
            </a:endParaRPr>
          </a:p>
        </p:txBody>
      </p:sp>
      <p:sp>
        <p:nvSpPr>
          <p:cNvPr id="4" name="Shape 1">
            <a:extLst>
              <a:ext uri="{FF2B5EF4-FFF2-40B4-BE49-F238E27FC236}">
                <a16:creationId xmlns:a16="http://schemas.microsoft.com/office/drawing/2014/main" id="{5C78D45B-003E-8550-CB85-BF9BE37650B7}"/>
              </a:ext>
            </a:extLst>
          </p:cNvPr>
          <p:cNvSpPr/>
          <p:nvPr/>
        </p:nvSpPr>
        <p:spPr>
          <a:xfrm>
            <a:off x="576943" y="5777865"/>
            <a:ext cx="13284432" cy="2179591"/>
          </a:xfrm>
          <a:prstGeom prst="roundRect">
            <a:avLst>
              <a:gd name="adj" fmla="val 984"/>
            </a:avLst>
          </a:prstGeom>
          <a:solidFill>
            <a:srgbClr val="F2EEEE"/>
          </a:solidFill>
          <a:ln/>
        </p:spPr>
        <p:txBody>
          <a:bodyPr/>
          <a:lstStyle/>
          <a:p>
            <a:endParaRPr lang="en-US">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E10950E-F8C4-0ED4-2966-95AB11F4B7B6}"/>
              </a:ext>
            </a:extLst>
          </p:cNvPr>
          <p:cNvSpPr txBox="1"/>
          <p:nvPr/>
        </p:nvSpPr>
        <p:spPr>
          <a:xfrm>
            <a:off x="1698171" y="6008660"/>
            <a:ext cx="8708572" cy="1703030"/>
          </a:xfrm>
          <a:prstGeom prst="rect">
            <a:avLst/>
          </a:prstGeom>
          <a:noFill/>
        </p:spPr>
        <p:txBody>
          <a:bodyPr wrap="square">
            <a:spAutoFit/>
          </a:bodyPr>
          <a:lstStyle/>
          <a:p>
            <a:pPr>
              <a:lnSpc>
                <a:spcPct val="150000"/>
              </a:lnSpc>
            </a:pPr>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lnSpc>
                <a:spcPct val="150000"/>
              </a:lnSpc>
              <a:buFont typeface="Arial" panose="020B0604020202020204" pitchFamily="34" charset="0"/>
              <a:buChar char="•"/>
            </a:pPr>
            <a:r>
              <a:rPr lang="vi-VN" b="0" i="0" dirty="0">
                <a:effectLst/>
                <a:latin typeface="Arial" panose="020B0604020202020204" pitchFamily="34" charset="0"/>
                <a:cs typeface="Arial" panose="020B0604020202020204" pitchFamily="34" charset="0"/>
              </a:rPr>
              <a:t>Hàng trăm kết nối từ một IP, mỗi kết nối gửi dữ liệu rất chậm</a:t>
            </a:r>
            <a:r>
              <a:rPr lang="en-US" b="0" i="0" dirty="0">
                <a:effectLst/>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vi-VN" b="0" i="0" dirty="0">
                <a:effectLst/>
                <a:latin typeface="Arial" panose="020B0604020202020204" pitchFamily="34" charset="0"/>
                <a:cs typeface="Arial" panose="020B0604020202020204" pitchFamily="34" charset="0"/>
              </a:rPr>
              <a:t>Gần như không tạo ra lưu lượng lớn, nhưng làm đầy các slot kết nối của Apache.</a:t>
            </a:r>
            <a:endParaRPr lang="en-US" b="0" i="0" dirty="0">
              <a:effectLst/>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vi-VN" b="0" i="0" dirty="0">
                <a:effectLst/>
                <a:latin typeface="Arial" panose="020B0604020202020204" pitchFamily="34" charset="0"/>
                <a:cs typeface="Arial" panose="020B0604020202020204" pitchFamily="34" charset="0"/>
              </a:rPr>
              <a:t>Các kết nối tồn tại rất lâu (phút hoặc giờ).</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42AA07-A47F-91FD-C4E4-AEC2A97E0BEE}"/>
              </a:ext>
            </a:extLst>
          </p:cNvPr>
          <p:cNvSpPr txBox="1"/>
          <p:nvPr/>
        </p:nvSpPr>
        <p:spPr>
          <a:xfrm>
            <a:off x="1240971" y="1028912"/>
            <a:ext cx="7315200" cy="830997"/>
          </a:xfrm>
          <a:prstGeom prst="rect">
            <a:avLst/>
          </a:prstGeom>
          <a:noFill/>
        </p:spPr>
        <p:txBody>
          <a:bodyPr wrap="square">
            <a:spAutoFit/>
          </a:bodyPr>
          <a:lstStyle/>
          <a:p>
            <a:r>
              <a:rPr lang="en-US" sz="4800" dirty="0">
                <a:solidFill>
                  <a:schemeClr val="bg1"/>
                </a:solidFill>
                <a:latin typeface="Arial" panose="020B0604020202020204" pitchFamily="34" charset="0"/>
                <a:ea typeface="PT Serif" pitchFamily="34" charset="-122"/>
                <a:cs typeface="Arial" panose="020B0604020202020204" pitchFamily="34" charset="0"/>
              </a:rPr>
              <a:t>Web Attack - Brute Force</a:t>
            </a:r>
            <a:endParaRPr lang="en-US" sz="4800" dirty="0">
              <a:solidFill>
                <a:schemeClr val="bg1"/>
              </a:solidFill>
              <a:latin typeface="Arial" panose="020B0604020202020204" pitchFamily="34" charset="0"/>
              <a:cs typeface="Arial" panose="020B0604020202020204" pitchFamily="34" charset="0"/>
            </a:endParaRPr>
          </a:p>
        </p:txBody>
      </p:sp>
      <p:sp>
        <p:nvSpPr>
          <p:cNvPr id="5" name="Text 8">
            <a:extLst>
              <a:ext uri="{FF2B5EF4-FFF2-40B4-BE49-F238E27FC236}">
                <a16:creationId xmlns:a16="http://schemas.microsoft.com/office/drawing/2014/main" id="{EAF46FF3-9360-A754-2637-9B2EB195B433}"/>
              </a:ext>
            </a:extLst>
          </p:cNvPr>
          <p:cNvSpPr/>
          <p:nvPr/>
        </p:nvSpPr>
        <p:spPr>
          <a:xfrm>
            <a:off x="2338627" y="1703606"/>
            <a:ext cx="9113144" cy="1409708"/>
          </a:xfrm>
          <a:prstGeom prst="rect">
            <a:avLst/>
          </a:prstGeom>
          <a:noFill/>
          <a:ln/>
        </p:spPr>
        <p:txBody>
          <a:bodyPr wrap="square" lIns="0" tIns="0" rIns="0" bIns="0" rtlCol="0" anchor="t"/>
          <a:lstStyle/>
          <a:p>
            <a:pPr>
              <a:lnSpc>
                <a:spcPts val="1400"/>
              </a:lnSpc>
            </a:pPr>
            <a:endParaRPr lang="en-US" sz="105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31DE533-469E-9ABD-05C1-A07BDF8D2B57}"/>
              </a:ext>
            </a:extLst>
          </p:cNvPr>
          <p:cNvSpPr txBox="1"/>
          <p:nvPr/>
        </p:nvSpPr>
        <p:spPr>
          <a:xfrm>
            <a:off x="5003098" y="3621794"/>
            <a:ext cx="4346114" cy="4611519"/>
          </a:xfrm>
          <a:prstGeom prst="rect">
            <a:avLst/>
          </a:prstGeom>
          <a:noFill/>
        </p:spPr>
        <p:txBody>
          <a:bodyPr wrap="square">
            <a:spAutoFit/>
          </a:bodyPr>
          <a:lstStyle/>
          <a:p>
            <a:pPr algn="l">
              <a:lnSpc>
                <a:spcPct val="150000"/>
              </a:lnSpc>
              <a:spcBef>
                <a:spcPts val="1200"/>
              </a:spcBef>
              <a:spcAft>
                <a:spcPts val="1200"/>
              </a:spcAft>
            </a:pPr>
            <a:r>
              <a:rPr lang="vi-VN" i="0" dirty="0">
                <a:effectLst/>
                <a:latin typeface="Arial" panose="020B0604020202020204" pitchFamily="34" charset="0"/>
                <a:cs typeface="Arial" panose="020B0604020202020204" pitchFamily="34" charset="0"/>
              </a:rPr>
              <a:t>Vụ tấn công iCloud "Celebgate" (2014): Tin tặc đã không xâm nhập vào hệ thống máy chủ của Apple, chúng đã thực hiện một cuộc tấn công brute-force có chủ đích kết hợp với kỹ thuật lừa đảo (phishing) để liên tục thử mật khẩu vào tài khoản iCloud của hàng loạt người nổi tiếng. Hậu quả là ảnh riêng tư của họ bị phát tán tràn lan. Sự kiện này đã thúc đẩy Apple áp dụng xác thực 2 yếu tố (2FA) một cách rộng rãi</a:t>
            </a:r>
            <a:r>
              <a:rPr lang="en-US" i="0" dirty="0">
                <a:effectLst/>
                <a:latin typeface="Arial" panose="020B0604020202020204" pitchFamily="34" charset="0"/>
                <a:cs typeface="Arial" panose="020B0604020202020204" pitchFamily="34" charset="0"/>
              </a:rPr>
              <a:t>.</a:t>
            </a:r>
            <a:endParaRPr lang="vi-VN" i="0" dirty="0">
              <a:effectLst/>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E248E1D-01C4-A97D-4A3C-AD7C2E0A5230}"/>
              </a:ext>
            </a:extLst>
          </p:cNvPr>
          <p:cNvSpPr txBox="1"/>
          <p:nvPr/>
        </p:nvSpPr>
        <p:spPr>
          <a:xfrm>
            <a:off x="9739992" y="3731376"/>
            <a:ext cx="3664744" cy="1200329"/>
          </a:xfrm>
          <a:prstGeom prst="rect">
            <a:avLst/>
          </a:prstGeom>
          <a:noFill/>
        </p:spPr>
        <p:txBody>
          <a:bodyPr wrap="square">
            <a:spAutoFit/>
          </a:bodyPr>
          <a:lstStyle/>
          <a:p>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vi-VN" b="0" i="0" dirty="0">
                <a:effectLst/>
                <a:latin typeface="Arial" panose="020B0604020202020204" pitchFamily="34" charset="0"/>
                <a:cs typeface="Arial" panose="020B0604020202020204" pitchFamily="34" charset="0"/>
              </a:rPr>
              <a:t>Nhiều POST request đến cùng một URL từ một IP, tốc độ nhanh hơn con người.</a:t>
            </a:r>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8352890-41CC-A5FF-B814-1DB9F0F1DC04}"/>
              </a:ext>
            </a:extLst>
          </p:cNvPr>
          <p:cNvSpPr txBox="1"/>
          <p:nvPr/>
        </p:nvSpPr>
        <p:spPr>
          <a:xfrm>
            <a:off x="947056" y="3621794"/>
            <a:ext cx="3760003" cy="3365024"/>
          </a:xfrm>
          <a:prstGeom prst="rect">
            <a:avLst/>
          </a:prstGeom>
          <a:noFill/>
        </p:spPr>
        <p:txBody>
          <a:bodyPr wrap="square">
            <a:spAutoFit/>
          </a:bodyPr>
          <a:lstStyle/>
          <a:p>
            <a:pPr>
              <a:lnSpc>
                <a:spcPct val="150000"/>
              </a:lnSpc>
            </a:pPr>
            <a:r>
              <a:rPr lang="vi-VN" dirty="0">
                <a:latin typeface="Arial" panose="020B0604020202020204" pitchFamily="34" charset="0"/>
                <a:cs typeface="Arial" panose="020B0604020202020204" pitchFamily="34" charset="0"/>
              </a:rPr>
              <a:t>Tấn công Brute-force vào ứng dụng web là hành vi kẻ tấn công sử dụng các công cụ tự</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động để thử đi thử lại rất nhiều tổ hợp "tên đăng nhập" và "mật khẩu" vào các form</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đăng nhập (login pages) cho đến khi tìm ra được một tổ hợp đúng. </a:t>
            </a:r>
          </a:p>
        </p:txBody>
      </p:sp>
      <p:sp>
        <p:nvSpPr>
          <p:cNvPr id="2" name="Shape 2">
            <a:extLst>
              <a:ext uri="{FF2B5EF4-FFF2-40B4-BE49-F238E27FC236}">
                <a16:creationId xmlns:a16="http://schemas.microsoft.com/office/drawing/2014/main" id="{AFB591AA-996B-F2E7-160E-2BCB32314286}"/>
              </a:ext>
            </a:extLst>
          </p:cNvPr>
          <p:cNvSpPr/>
          <p:nvPr/>
        </p:nvSpPr>
        <p:spPr>
          <a:xfrm>
            <a:off x="1042315" y="3267416"/>
            <a:ext cx="3664744" cy="30480"/>
          </a:xfrm>
          <a:prstGeom prst="rect">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
        <p:nvSpPr>
          <p:cNvPr id="6" name="Shape 2">
            <a:extLst>
              <a:ext uri="{FF2B5EF4-FFF2-40B4-BE49-F238E27FC236}">
                <a16:creationId xmlns:a16="http://schemas.microsoft.com/office/drawing/2014/main" id="{35580B69-9CBC-5C85-FF2C-714B4F024C17}"/>
              </a:ext>
            </a:extLst>
          </p:cNvPr>
          <p:cNvSpPr/>
          <p:nvPr/>
        </p:nvSpPr>
        <p:spPr>
          <a:xfrm flipV="1">
            <a:off x="5142997" y="3282654"/>
            <a:ext cx="4066317" cy="45719"/>
          </a:xfrm>
          <a:prstGeom prst="rect">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
        <p:nvSpPr>
          <p:cNvPr id="8" name="Shape 2">
            <a:extLst>
              <a:ext uri="{FF2B5EF4-FFF2-40B4-BE49-F238E27FC236}">
                <a16:creationId xmlns:a16="http://schemas.microsoft.com/office/drawing/2014/main" id="{B854864D-1937-09EA-37DD-8BCD4767036A}"/>
              </a:ext>
            </a:extLst>
          </p:cNvPr>
          <p:cNvSpPr/>
          <p:nvPr/>
        </p:nvSpPr>
        <p:spPr>
          <a:xfrm>
            <a:off x="9739992" y="3267416"/>
            <a:ext cx="3664744" cy="30480"/>
          </a:xfrm>
          <a:prstGeom prst="rect">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4548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5" name="Shape 1">
            <a:extLst>
              <a:ext uri="{FF2B5EF4-FFF2-40B4-BE49-F238E27FC236}">
                <a16:creationId xmlns:a16="http://schemas.microsoft.com/office/drawing/2014/main" id="{0489CBFC-D017-99FF-D320-DCBBF708F48C}"/>
              </a:ext>
            </a:extLst>
          </p:cNvPr>
          <p:cNvSpPr/>
          <p:nvPr/>
        </p:nvSpPr>
        <p:spPr>
          <a:xfrm>
            <a:off x="158396" y="5272912"/>
            <a:ext cx="7374518" cy="2728087"/>
          </a:xfrm>
          <a:prstGeom prst="roundRect">
            <a:avLst>
              <a:gd name="adj" fmla="val 984"/>
            </a:avLst>
          </a:prstGeom>
          <a:solidFill>
            <a:srgbClr val="F2EEEE"/>
          </a:solidFill>
          <a:ln/>
        </p:spPr>
        <p:txBody>
          <a:bodyPr/>
          <a:lstStyle/>
          <a:p>
            <a:endParaRPr lang="en-US">
              <a:latin typeface="Arial" panose="020B0604020202020204" pitchFamily="34" charset="0"/>
              <a:cs typeface="Arial" panose="020B0604020202020204" pitchFamily="34" charset="0"/>
            </a:endParaRPr>
          </a:p>
        </p:txBody>
      </p:sp>
      <p:sp>
        <p:nvSpPr>
          <p:cNvPr id="2" name="Text 0"/>
          <p:cNvSpPr/>
          <p:nvPr/>
        </p:nvSpPr>
        <p:spPr>
          <a:xfrm>
            <a:off x="1352243" y="1130618"/>
            <a:ext cx="7628334" cy="686038"/>
          </a:xfrm>
          <a:prstGeom prst="rect">
            <a:avLst/>
          </a:prstGeom>
          <a:noFill/>
          <a:ln/>
        </p:spPr>
        <p:txBody>
          <a:bodyPr wrap="none" lIns="0" tIns="0" rIns="0" bIns="0" rtlCol="0" anchor="t"/>
          <a:lstStyle/>
          <a:p>
            <a:pPr marL="0" indent="0" algn="l">
              <a:lnSpc>
                <a:spcPts val="5400"/>
              </a:lnSpc>
              <a:buNone/>
            </a:pPr>
            <a:r>
              <a:rPr lang="en-US" sz="4300" dirty="0">
                <a:solidFill>
                  <a:schemeClr val="bg1"/>
                </a:solidFill>
                <a:latin typeface="Arial" panose="020B0604020202020204" pitchFamily="34" charset="0"/>
                <a:ea typeface="PT Serif" pitchFamily="34" charset="-122"/>
                <a:cs typeface="Arial" panose="020B0604020202020204" pitchFamily="34" charset="0"/>
              </a:rPr>
              <a:t>Web Attack - XSS</a:t>
            </a:r>
            <a:endParaRPr lang="en-US" sz="4300" dirty="0">
              <a:solidFill>
                <a:schemeClr val="bg1"/>
              </a:solidFill>
              <a:latin typeface="Arial" panose="020B0604020202020204" pitchFamily="34" charset="0"/>
              <a:cs typeface="Arial" panose="020B0604020202020204" pitchFamily="34" charset="0"/>
            </a:endParaRPr>
          </a:p>
        </p:txBody>
      </p:sp>
      <p:sp>
        <p:nvSpPr>
          <p:cNvPr id="6" name="Shape 1">
            <a:extLst>
              <a:ext uri="{FF2B5EF4-FFF2-40B4-BE49-F238E27FC236}">
                <a16:creationId xmlns:a16="http://schemas.microsoft.com/office/drawing/2014/main" id="{94BB9308-ACBA-24A3-F7E2-A89C6FC29259}"/>
              </a:ext>
            </a:extLst>
          </p:cNvPr>
          <p:cNvSpPr/>
          <p:nvPr/>
        </p:nvSpPr>
        <p:spPr>
          <a:xfrm>
            <a:off x="8051192" y="5272911"/>
            <a:ext cx="6213328" cy="2728087"/>
          </a:xfrm>
          <a:prstGeom prst="roundRect">
            <a:avLst>
              <a:gd name="adj" fmla="val 984"/>
            </a:avLst>
          </a:prstGeom>
          <a:solidFill>
            <a:srgbClr val="F2EEEE"/>
          </a:solidFill>
          <a:ln/>
        </p:spPr>
        <p:txBody>
          <a:bodyPr/>
          <a:lstStyle/>
          <a:p>
            <a:endParaRPr lang="en-US">
              <a:latin typeface="Arial" panose="020B0604020202020204" pitchFamily="34" charset="0"/>
              <a:cs typeface="Arial" panose="020B0604020202020204" pitchFamily="34" charset="0"/>
            </a:endParaRPr>
          </a:p>
        </p:txBody>
      </p:sp>
      <p:sp>
        <p:nvSpPr>
          <p:cNvPr id="9" name="Text 6"/>
          <p:cNvSpPr/>
          <p:nvPr/>
        </p:nvSpPr>
        <p:spPr>
          <a:xfrm>
            <a:off x="731758" y="5612992"/>
            <a:ext cx="6068854" cy="2607979"/>
          </a:xfrm>
          <a:prstGeom prst="rect">
            <a:avLst/>
          </a:prstGeom>
          <a:noFill/>
          <a:ln/>
        </p:spPr>
        <p:txBody>
          <a:bodyPr wrap="square" lIns="0" tIns="0" rIns="0" bIns="0" rtlCol="0" anchor="t"/>
          <a:lstStyle/>
          <a:p>
            <a:pPr>
              <a:lnSpc>
                <a:spcPts val="2500"/>
              </a:lnSpc>
            </a:pPr>
            <a:r>
              <a:rPr lang="vi-VN" dirty="0">
                <a:latin typeface="Arial" panose="020B0604020202020204" pitchFamily="34" charset="0"/>
                <a:cs typeface="Arial" panose="020B0604020202020204" pitchFamily="34" charset="0"/>
              </a:rPr>
              <a:t>Samy Worm – MySpace (2005): Samy Kamkar đã tạo ra một con sâu XSS lây lan với tốc độ khủng khiếp chỉ trong 20 giờ. Anh ta tận dụng lỗ hổng Stored XSS trên MySpace: khi người dùng xem profile của Samy, một đoạn script sẽ tự động gửi lời mời kết bạn đến Samy và sao chép chính đoạn mã đó vào profile của nạn nhân. Kết quả: hơn 1 triệu người bạn trong chưa đầy một ngày, làm sập cả MySpace.</a:t>
            </a:r>
          </a:p>
          <a:p>
            <a:pPr marL="0" indent="0" algn="l">
              <a:lnSpc>
                <a:spcPts val="2500"/>
              </a:lnSpc>
              <a:buNone/>
            </a:pPr>
            <a:endParaRPr lang="en-US" sz="1600" dirty="0">
              <a:latin typeface="Arial" panose="020B0604020202020204" pitchFamily="34" charset="0"/>
              <a:cs typeface="Arial" panose="020B0604020202020204" pitchFamily="34" charset="0"/>
            </a:endParaRPr>
          </a:p>
        </p:txBody>
      </p:sp>
      <p:pic>
        <p:nvPicPr>
          <p:cNvPr id="22" name="Picture 21">
            <a:extLst>
              <a:ext uri="{FF2B5EF4-FFF2-40B4-BE49-F238E27FC236}">
                <a16:creationId xmlns:a16="http://schemas.microsoft.com/office/drawing/2014/main" id="{8B29AAF6-8756-8454-6E95-F8C87284B2C7}"/>
              </a:ext>
            </a:extLst>
          </p:cNvPr>
          <p:cNvPicPr>
            <a:picLocks noChangeAspect="1"/>
          </p:cNvPicPr>
          <p:nvPr/>
        </p:nvPicPr>
        <p:blipFill>
          <a:blip r:embed="rId3"/>
          <a:stretch>
            <a:fillRect/>
          </a:stretch>
        </p:blipFill>
        <p:spPr>
          <a:xfrm>
            <a:off x="3302343" y="4404998"/>
            <a:ext cx="7724775" cy="790575"/>
          </a:xfrm>
          <a:prstGeom prst="rect">
            <a:avLst/>
          </a:prstGeom>
        </p:spPr>
      </p:pic>
      <p:sp>
        <p:nvSpPr>
          <p:cNvPr id="4" name="TextBox 3">
            <a:extLst>
              <a:ext uri="{FF2B5EF4-FFF2-40B4-BE49-F238E27FC236}">
                <a16:creationId xmlns:a16="http://schemas.microsoft.com/office/drawing/2014/main" id="{C04CFCC0-4647-B5A5-3B61-39A84E0C690A}"/>
              </a:ext>
            </a:extLst>
          </p:cNvPr>
          <p:cNvSpPr txBox="1"/>
          <p:nvPr/>
        </p:nvSpPr>
        <p:spPr>
          <a:xfrm>
            <a:off x="8893628" y="5612992"/>
            <a:ext cx="4528457" cy="923330"/>
          </a:xfrm>
          <a:prstGeom prst="rect">
            <a:avLst/>
          </a:prstGeom>
          <a:noFill/>
        </p:spPr>
        <p:txBody>
          <a:bodyPr wrap="square">
            <a:spAutoFit/>
          </a:bodyPr>
          <a:lstStyle/>
          <a:p>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vi-VN" dirty="0">
                <a:latin typeface="Arial" panose="020B0604020202020204" pitchFamily="34" charset="0"/>
                <a:cs typeface="Arial" panose="020B0604020202020204" pitchFamily="34" charset="0"/>
              </a:rPr>
              <a:t>Trang web bị chèn script tải tài nguyên từ host </a:t>
            </a:r>
            <a:r>
              <a:rPr lang="en-US" dirty="0" err="1">
                <a:latin typeface="Arial" panose="020B0604020202020204" pitchFamily="34" charset="0"/>
                <a:cs typeface="Arial" panose="020B0604020202020204" pitchFamily="34" charset="0"/>
              </a:rPr>
              <a:t>bên</a:t>
            </a:r>
            <a:r>
              <a:rPr lang="vi-VN" dirty="0">
                <a:latin typeface="Arial" panose="020B0604020202020204" pitchFamily="34" charset="0"/>
                <a:cs typeface="Arial" panose="020B0604020202020204" pitchFamily="34" charset="0"/>
              </a:rPr>
              <a:t> ngoài.</a:t>
            </a:r>
            <a:endParaRPr lang="en-US" dirty="0">
              <a:latin typeface="Arial" panose="020B0604020202020204" pitchFamily="34" charset="0"/>
              <a:cs typeface="Arial" panose="020B0604020202020204" pitchFamily="34" charset="0"/>
            </a:endParaRPr>
          </a:p>
        </p:txBody>
      </p:sp>
      <p:sp>
        <p:nvSpPr>
          <p:cNvPr id="3" name="Shape 1">
            <a:extLst>
              <a:ext uri="{FF2B5EF4-FFF2-40B4-BE49-F238E27FC236}">
                <a16:creationId xmlns:a16="http://schemas.microsoft.com/office/drawing/2014/main" id="{B544E0B8-7166-6D05-EE2E-455B3261E490}"/>
              </a:ext>
            </a:extLst>
          </p:cNvPr>
          <p:cNvSpPr/>
          <p:nvPr/>
        </p:nvSpPr>
        <p:spPr>
          <a:xfrm>
            <a:off x="522515" y="2778824"/>
            <a:ext cx="13284432" cy="1531920"/>
          </a:xfrm>
          <a:prstGeom prst="roundRect">
            <a:avLst>
              <a:gd name="adj" fmla="val 984"/>
            </a:avLst>
          </a:prstGeom>
          <a:solidFill>
            <a:srgbClr val="F2EEEE"/>
          </a:solidFill>
          <a:ln/>
        </p:spPr>
        <p:txBody>
          <a:bodyPr/>
          <a:lstStyle/>
          <a:p>
            <a:endParaRPr lang="en-US">
              <a:latin typeface="Arial" panose="020B0604020202020204" pitchFamily="34" charset="0"/>
              <a:cs typeface="Arial" panose="020B0604020202020204" pitchFamily="34" charset="0"/>
            </a:endParaRPr>
          </a:p>
        </p:txBody>
      </p:sp>
      <p:sp>
        <p:nvSpPr>
          <p:cNvPr id="7" name="Text 4"/>
          <p:cNvSpPr/>
          <p:nvPr/>
        </p:nvSpPr>
        <p:spPr>
          <a:xfrm>
            <a:off x="1112758" y="3015611"/>
            <a:ext cx="12219997" cy="964049"/>
          </a:xfrm>
          <a:prstGeom prst="rect">
            <a:avLst/>
          </a:prstGeom>
          <a:noFill/>
          <a:ln/>
        </p:spPr>
        <p:txBody>
          <a:bodyPr wrap="square" lIns="0" tIns="0" rIns="0" bIns="0" rtlCol="0" anchor="t"/>
          <a:lstStyle/>
          <a:p>
            <a:pPr>
              <a:lnSpc>
                <a:spcPts val="2500"/>
              </a:lnSpc>
            </a:pPr>
            <a:r>
              <a:rPr lang="vi-VN" dirty="0">
                <a:latin typeface="Arial" panose="020B0604020202020204" pitchFamily="34" charset="0"/>
                <a:cs typeface="Arial" panose="020B0604020202020204" pitchFamily="34" charset="0"/>
              </a:rPr>
              <a:t>Cross-Site Scripting (XSS) là một lỗ hổng bảo mật cho phép kẻ tấn công tiêm (inject) các đoạn mã độc hại (thường là JavaScript) vào một trang web mà người dùng khác sẽ xem. Khi nạn nhân truy cập trang web đó, đoạn mã sẽ thực thi trong trình duyệt của họ, với toàn quyền truy cập vào phiên làm việc (session) của họ trên chính website đó.</a:t>
            </a:r>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428291" y="1276220"/>
            <a:ext cx="6931938" cy="476845"/>
          </a:xfrm>
          <a:prstGeom prst="rect">
            <a:avLst/>
          </a:prstGeom>
          <a:noFill/>
          <a:ln/>
        </p:spPr>
        <p:txBody>
          <a:bodyPr wrap="none" lIns="0" tIns="0" rIns="0" bIns="0" rtlCol="0" anchor="t"/>
          <a:lstStyle/>
          <a:p>
            <a:pPr marL="0" indent="0" algn="l">
              <a:lnSpc>
                <a:spcPts val="3750"/>
              </a:lnSpc>
              <a:buNone/>
            </a:pPr>
            <a:r>
              <a:rPr lang="en-US" sz="4800" dirty="0">
                <a:solidFill>
                  <a:schemeClr val="bg1"/>
                </a:solidFill>
                <a:latin typeface="Arial" panose="020B0604020202020204" pitchFamily="34" charset="0"/>
                <a:ea typeface="PT Serif" pitchFamily="34" charset="-122"/>
                <a:cs typeface="Arial" panose="020B0604020202020204" pitchFamily="34" charset="0"/>
              </a:rPr>
              <a:t>Web Attack - SQL Injection</a:t>
            </a:r>
            <a:endParaRPr lang="en-US" sz="4800" dirty="0">
              <a:solidFill>
                <a:schemeClr val="bg1"/>
              </a:solidFill>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776FED17-07C2-CA05-42A9-D7F4B6BCA35B}"/>
              </a:ext>
            </a:extLst>
          </p:cNvPr>
          <p:cNvPicPr>
            <a:picLocks noChangeAspect="1"/>
          </p:cNvPicPr>
          <p:nvPr/>
        </p:nvPicPr>
        <p:blipFill>
          <a:blip r:embed="rId3"/>
          <a:stretch>
            <a:fillRect/>
          </a:stretch>
        </p:blipFill>
        <p:spPr>
          <a:xfrm>
            <a:off x="7200900" y="4369278"/>
            <a:ext cx="7429500" cy="705207"/>
          </a:xfrm>
          <a:prstGeom prst="rect">
            <a:avLst/>
          </a:prstGeom>
        </p:spPr>
      </p:pic>
      <p:pic>
        <p:nvPicPr>
          <p:cNvPr id="23" name="Picture 22">
            <a:extLst>
              <a:ext uri="{FF2B5EF4-FFF2-40B4-BE49-F238E27FC236}">
                <a16:creationId xmlns:a16="http://schemas.microsoft.com/office/drawing/2014/main" id="{EF007625-C7C8-AAB7-D750-8C4AEA1A1246}"/>
              </a:ext>
            </a:extLst>
          </p:cNvPr>
          <p:cNvPicPr>
            <a:picLocks noChangeAspect="1"/>
          </p:cNvPicPr>
          <p:nvPr/>
        </p:nvPicPr>
        <p:blipFill>
          <a:blip r:embed="rId4"/>
          <a:stretch>
            <a:fillRect/>
          </a:stretch>
        </p:blipFill>
        <p:spPr>
          <a:xfrm>
            <a:off x="170989" y="4369279"/>
            <a:ext cx="6931939" cy="705207"/>
          </a:xfrm>
          <a:prstGeom prst="rect">
            <a:avLst/>
          </a:prstGeom>
        </p:spPr>
      </p:pic>
      <p:sp>
        <p:nvSpPr>
          <p:cNvPr id="25" name="TextBox 24">
            <a:extLst>
              <a:ext uri="{FF2B5EF4-FFF2-40B4-BE49-F238E27FC236}">
                <a16:creationId xmlns:a16="http://schemas.microsoft.com/office/drawing/2014/main" id="{B4CD0857-553A-DF5F-10E6-3DA99D16F715}"/>
              </a:ext>
            </a:extLst>
          </p:cNvPr>
          <p:cNvSpPr txBox="1"/>
          <p:nvPr/>
        </p:nvSpPr>
        <p:spPr>
          <a:xfrm>
            <a:off x="1256925" y="2815337"/>
            <a:ext cx="11375571" cy="1200329"/>
          </a:xfrm>
          <a:prstGeom prst="rect">
            <a:avLst/>
          </a:prstGeom>
          <a:noFill/>
        </p:spPr>
        <p:txBody>
          <a:bodyPr wrap="square">
            <a:spAutoFit/>
          </a:bodyPr>
          <a:lstStyle/>
          <a:p>
            <a:r>
              <a:rPr lang="vi-VN" i="0" dirty="0">
                <a:effectLst/>
                <a:latin typeface="Arial" panose="020B0604020202020204" pitchFamily="34" charset="0"/>
                <a:cs typeface="Arial" panose="020B0604020202020204" pitchFamily="34" charset="0"/>
              </a:rPr>
              <a:t>SQL Injection là một kỹ thuật tấn công web cho phép kẻ tấn công chèn (inject) các câu lệnh SQL độc hại vào các trường nhập liệu của ứng dụng (như form đăng nhập, ô tìm kiếm, tham số URL...). Nếu ứng dụng không kiểm tra và lọc dữ liệu đầu vào cẩn thận, những câu lệnh này sẽ được gửi thẳng đến cơ sở dữ liệu và thực thi, cho phép kẻ tấn công thao túng, đánh cắp, thậm chí phá hủy toàn bộ dữ liệu.</a:t>
            </a:r>
            <a:endParaRPr lang="en-US"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0BC7D3F0-2ADA-889B-E3FC-E4131BE19680}"/>
              </a:ext>
            </a:extLst>
          </p:cNvPr>
          <p:cNvSpPr txBox="1"/>
          <p:nvPr/>
        </p:nvSpPr>
        <p:spPr>
          <a:xfrm>
            <a:off x="391884" y="5820430"/>
            <a:ext cx="7315200" cy="1200329"/>
          </a:xfrm>
          <a:prstGeom prst="rect">
            <a:avLst/>
          </a:prstGeom>
          <a:noFill/>
        </p:spPr>
        <p:txBody>
          <a:bodyPr wrap="square">
            <a:spAutoFit/>
          </a:bodyPr>
          <a:lstStyle/>
          <a:p>
            <a:pPr algn="l">
              <a:spcBef>
                <a:spcPts val="1200"/>
              </a:spcBef>
              <a:spcAft>
                <a:spcPts val="1200"/>
              </a:spcAft>
            </a:pPr>
            <a:r>
              <a:rPr lang="vi-VN" i="0" dirty="0">
                <a:effectLst/>
                <a:latin typeface="Arial" panose="020B0604020202020204" pitchFamily="34" charset="0"/>
                <a:cs typeface="Arial" panose="020B0604020202020204" pitchFamily="34" charset="0"/>
              </a:rPr>
              <a:t>Vụ tấn công Heartland Payment Systems (2008): </a:t>
            </a:r>
            <a:r>
              <a:rPr lang="vi-VN" b="0" i="0" dirty="0">
                <a:effectLst/>
                <a:latin typeface="Arial" panose="020B0604020202020204" pitchFamily="34" charset="0"/>
                <a:cs typeface="Arial" panose="020B0604020202020204" pitchFamily="34" charset="0"/>
              </a:rPr>
              <a:t>Một trong những vụ đánh cắp dữ liệu thẻ tín dụng lớn nhất lịch sử lúc bấy giờ (khoảng 130 triệu thẻ) bắt nguồn từ một lỗi SQL Injection. Hậu quả là công ty phải trả hàng trăm triệu đô la tiền phạt và bồi thường.</a:t>
            </a:r>
          </a:p>
        </p:txBody>
      </p:sp>
      <p:sp>
        <p:nvSpPr>
          <p:cNvPr id="4" name="TextBox 3">
            <a:extLst>
              <a:ext uri="{FF2B5EF4-FFF2-40B4-BE49-F238E27FC236}">
                <a16:creationId xmlns:a16="http://schemas.microsoft.com/office/drawing/2014/main" id="{54C9D9D1-787D-AB3D-0FE3-CA62FBBB1A92}"/>
              </a:ext>
            </a:extLst>
          </p:cNvPr>
          <p:cNvSpPr txBox="1"/>
          <p:nvPr/>
        </p:nvSpPr>
        <p:spPr>
          <a:xfrm>
            <a:off x="8360229" y="5866597"/>
            <a:ext cx="7315200" cy="646331"/>
          </a:xfrm>
          <a:prstGeom prst="rect">
            <a:avLst/>
          </a:prstGeom>
          <a:noFill/>
        </p:spPr>
        <p:txBody>
          <a:bodyPr wrap="square">
            <a:spAutoFit/>
          </a:bodyPr>
          <a:lstStyle/>
          <a:p>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vi-VN" b="0" i="0" dirty="0">
                <a:effectLst/>
                <a:latin typeface="Arial" panose="020B0604020202020204" pitchFamily="34" charset="0"/>
                <a:cs typeface="Arial" panose="020B0604020202020204" pitchFamily="34" charset="0"/>
              </a:rPr>
              <a:t>URL dài chứa nhiều mã SQL được mã hóa URL.</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5" name="Text 1"/>
          <p:cNvSpPr/>
          <p:nvPr/>
        </p:nvSpPr>
        <p:spPr>
          <a:xfrm>
            <a:off x="1586949" y="954848"/>
            <a:ext cx="7226379" cy="732592"/>
          </a:xfrm>
          <a:prstGeom prst="rect">
            <a:avLst/>
          </a:prstGeom>
          <a:noFill/>
          <a:ln/>
        </p:spPr>
        <p:txBody>
          <a:bodyPr wrap="none" lIns="0" tIns="0" rIns="0" bIns="0" rtlCol="0" anchor="t"/>
          <a:lstStyle/>
          <a:p>
            <a:pPr marL="0" indent="0" algn="l">
              <a:lnSpc>
                <a:spcPts val="5750"/>
              </a:lnSpc>
              <a:buNone/>
            </a:pPr>
            <a:r>
              <a:rPr lang="en-US" sz="4600" dirty="0">
                <a:solidFill>
                  <a:schemeClr val="bg1"/>
                </a:solidFill>
                <a:latin typeface="Arial" panose="020B0604020202020204" pitchFamily="34" charset="0"/>
                <a:ea typeface="PT Serif" pitchFamily="34" charset="-122"/>
                <a:cs typeface="Arial" panose="020B0604020202020204" pitchFamily="34" charset="0"/>
              </a:rPr>
              <a:t>FTP-Patator &amp; SSH-Patator</a:t>
            </a:r>
            <a:endParaRPr lang="en-US" sz="4600" dirty="0">
              <a:solidFill>
                <a:schemeClr val="bg1"/>
              </a:solidFill>
              <a:latin typeface="Arial" panose="020B0604020202020204" pitchFamily="34" charset="0"/>
              <a:cs typeface="Arial" panose="020B0604020202020204" pitchFamily="34" charset="0"/>
            </a:endParaRPr>
          </a:p>
        </p:txBody>
      </p:sp>
      <p:sp>
        <p:nvSpPr>
          <p:cNvPr id="6" name="Shape 2"/>
          <p:cNvSpPr/>
          <p:nvPr/>
        </p:nvSpPr>
        <p:spPr>
          <a:xfrm>
            <a:off x="2477214" y="3135043"/>
            <a:ext cx="7581186" cy="2068473"/>
          </a:xfrm>
          <a:prstGeom prst="roundRect">
            <a:avLst>
              <a:gd name="adj" fmla="val 7073"/>
            </a:avLst>
          </a:prstGeom>
          <a:solidFill>
            <a:srgbClr val="FFFFFF"/>
          </a:solidFill>
          <a:ln w="30480">
            <a:solidFill>
              <a:srgbClr val="D8D4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7" name="Shape 3"/>
          <p:cNvSpPr/>
          <p:nvPr/>
        </p:nvSpPr>
        <p:spPr>
          <a:xfrm>
            <a:off x="2438238" y="3135043"/>
            <a:ext cx="121920" cy="2068473"/>
          </a:xfrm>
          <a:prstGeom prst="roundRect">
            <a:avLst>
              <a:gd name="adj" fmla="val 27471"/>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
        <p:nvSpPr>
          <p:cNvPr id="9" name="Text 5"/>
          <p:cNvSpPr/>
          <p:nvPr/>
        </p:nvSpPr>
        <p:spPr>
          <a:xfrm>
            <a:off x="2822376" y="3637785"/>
            <a:ext cx="6982301" cy="1062990"/>
          </a:xfrm>
          <a:prstGeom prst="rect">
            <a:avLst/>
          </a:prstGeom>
          <a:noFill/>
          <a:ln/>
        </p:spPr>
        <p:txBody>
          <a:bodyPr wrap="square" lIns="0" tIns="0" rIns="0" bIns="0" rtlCol="0" anchor="t"/>
          <a:lstStyle/>
          <a:p>
            <a:pPr marL="0" indent="0" algn="l">
              <a:lnSpc>
                <a:spcPts val="2750"/>
              </a:lnSpc>
              <a:buNone/>
            </a:pPr>
            <a:r>
              <a:rPr lang="en-US" sz="1750" dirty="0">
                <a:solidFill>
                  <a:srgbClr val="383838"/>
                </a:solidFill>
                <a:latin typeface="Arial" panose="020B0604020202020204" pitchFamily="34" charset="0"/>
                <a:ea typeface="DM Sans" pitchFamily="34" charset="-122"/>
                <a:cs typeface="Arial" panose="020B0604020202020204" pitchFamily="34" charset="0"/>
              </a:rPr>
              <a:t>Sử dụng công cụ Patator để thực hiện tấn công Brute Force (thử sai liên tục) mật khẩu vào dịch vụ truyền file (FTP) hoặc quản trị từ xa (SSH).</a:t>
            </a:r>
            <a:endParaRPr lang="en-US" sz="1750" dirty="0">
              <a:latin typeface="Arial" panose="020B0604020202020204" pitchFamily="34" charset="0"/>
              <a:cs typeface="Arial" panose="020B0604020202020204" pitchFamily="34" charset="0"/>
            </a:endParaRPr>
          </a:p>
        </p:txBody>
      </p:sp>
      <p:sp>
        <p:nvSpPr>
          <p:cNvPr id="14" name="Shape 10"/>
          <p:cNvSpPr/>
          <p:nvPr/>
        </p:nvSpPr>
        <p:spPr>
          <a:xfrm>
            <a:off x="2477214" y="5899904"/>
            <a:ext cx="7581186" cy="1714143"/>
          </a:xfrm>
          <a:prstGeom prst="roundRect">
            <a:avLst>
              <a:gd name="adj" fmla="val 8535"/>
            </a:avLst>
          </a:prstGeom>
          <a:solidFill>
            <a:srgbClr val="FFFFFF"/>
          </a:solidFill>
          <a:ln w="30480">
            <a:solidFill>
              <a:srgbClr val="D8D4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15" name="Shape 11"/>
          <p:cNvSpPr/>
          <p:nvPr/>
        </p:nvSpPr>
        <p:spPr>
          <a:xfrm>
            <a:off x="2446734" y="5899904"/>
            <a:ext cx="121920" cy="1714143"/>
          </a:xfrm>
          <a:prstGeom prst="roundRect">
            <a:avLst>
              <a:gd name="adj" fmla="val 27471"/>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0B9672B-91CE-4596-BD62-6FA3C996CE41}"/>
              </a:ext>
            </a:extLst>
          </p:cNvPr>
          <p:cNvSpPr txBox="1"/>
          <p:nvPr/>
        </p:nvSpPr>
        <p:spPr>
          <a:xfrm>
            <a:off x="2773680" y="6113209"/>
            <a:ext cx="7315200" cy="1287532"/>
          </a:xfrm>
          <a:prstGeom prst="rect">
            <a:avLst/>
          </a:prstGeom>
          <a:noFill/>
        </p:spPr>
        <p:txBody>
          <a:bodyPr wrap="square">
            <a:spAutoFit/>
          </a:bodyPr>
          <a:lstStyle/>
          <a:p>
            <a:pPr>
              <a:lnSpc>
                <a:spcPct val="150000"/>
              </a:lnSpc>
            </a:pPr>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Nhiều </a:t>
            </a:r>
            <a:r>
              <a:rPr lang="en-US" dirty="0" err="1">
                <a:latin typeface="Arial" panose="020B0604020202020204" pitchFamily="34" charset="0"/>
                <a:cs typeface="Arial" panose="020B0604020202020204" pitchFamily="34" charset="0"/>
              </a:rPr>
              <a:t>lần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ngắn</a:t>
            </a:r>
            <a:endParaRPr lang="en-US" b="0" i="0" dirty="0">
              <a:effectLst/>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M</a:t>
            </a:r>
            <a:r>
              <a:rPr lang="en-US" b="0" i="0" dirty="0">
                <a:effectLst/>
                <a:latin typeface="Arial" panose="020B0604020202020204" pitchFamily="34" charset="0"/>
                <a:cs typeface="Arial" panose="020B0604020202020204" pitchFamily="34" charset="0"/>
              </a:rPr>
              <a:t>ỗi </a:t>
            </a:r>
            <a:r>
              <a:rPr lang="en-US" b="0" i="0" dirty="0" err="1">
                <a:effectLst/>
                <a:latin typeface="Arial" panose="020B0604020202020204" pitchFamily="34" charset="0"/>
                <a:cs typeface="Arial" panose="020B0604020202020204" pitchFamily="34" charset="0"/>
              </a:rPr>
              <a:t>kết</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nối</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thử</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một</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tổ</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hợp</a:t>
            </a:r>
            <a:r>
              <a:rPr lang="en-US" b="0" i="0" dirty="0">
                <a:effectLst/>
                <a:latin typeface="Arial" panose="020B0604020202020204" pitchFamily="34" charset="0"/>
                <a:cs typeface="Arial" panose="020B0604020202020204" pitchFamily="34" charset="0"/>
              </a:rPr>
              <a:t> user/password.</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9">
            <a:extLst>
              <a:ext uri="{FF2B5EF4-FFF2-40B4-BE49-F238E27FC236}">
                <a16:creationId xmlns:a16="http://schemas.microsoft.com/office/drawing/2014/main" id="{F42D97F7-7E7F-2344-CE18-8E7FFDF1FC05}"/>
              </a:ext>
            </a:extLst>
          </p:cNvPr>
          <p:cNvSpPr/>
          <p:nvPr/>
        </p:nvSpPr>
        <p:spPr>
          <a:xfrm>
            <a:off x="836295" y="2871147"/>
            <a:ext cx="12957810" cy="5151045"/>
          </a:xfrm>
          <a:prstGeom prst="roundRect">
            <a:avLst>
              <a:gd name="adj" fmla="val 579"/>
            </a:avLst>
          </a:prstGeom>
          <a:solidFill>
            <a:srgbClr val="F2EEEE"/>
          </a:solidFill>
          <a:ln/>
        </p:spPr>
        <p:txBody>
          <a:bodyPr/>
          <a:lstStyle/>
          <a:p>
            <a:endParaRPr lang="en-US">
              <a:latin typeface="Arial" panose="020B0604020202020204" pitchFamily="34" charset="0"/>
              <a:cs typeface="Arial" panose="020B0604020202020204" pitchFamily="34" charset="0"/>
            </a:endParaRPr>
          </a:p>
        </p:txBody>
      </p:sp>
      <p:sp>
        <p:nvSpPr>
          <p:cNvPr id="5" name="Text 11">
            <a:extLst>
              <a:ext uri="{FF2B5EF4-FFF2-40B4-BE49-F238E27FC236}">
                <a16:creationId xmlns:a16="http://schemas.microsoft.com/office/drawing/2014/main" id="{90D4B783-EA62-EBCA-4BEA-0858099E8DA5}"/>
              </a:ext>
            </a:extLst>
          </p:cNvPr>
          <p:cNvSpPr/>
          <p:nvPr/>
        </p:nvSpPr>
        <p:spPr>
          <a:xfrm>
            <a:off x="1395116" y="1300382"/>
            <a:ext cx="3210690" cy="785124"/>
          </a:xfrm>
          <a:prstGeom prst="rect">
            <a:avLst/>
          </a:prstGeom>
          <a:noFill/>
          <a:ln/>
        </p:spPr>
        <p:txBody>
          <a:bodyPr wrap="none" lIns="0" tIns="0" rIns="0" bIns="0" rtlCol="0" anchor="t"/>
          <a:lstStyle/>
          <a:p>
            <a:pPr marL="0" indent="0" algn="l">
              <a:lnSpc>
                <a:spcPts val="2700"/>
              </a:lnSpc>
              <a:buNone/>
            </a:pPr>
            <a:r>
              <a:rPr lang="en-US" sz="4800" dirty="0">
                <a:solidFill>
                  <a:schemeClr val="bg1"/>
                </a:solidFill>
                <a:latin typeface="Arial" panose="020B0604020202020204" pitchFamily="34" charset="0"/>
                <a:ea typeface="PT Serif" pitchFamily="34" charset="-122"/>
                <a:cs typeface="Arial" panose="020B0604020202020204" pitchFamily="34" charset="0"/>
              </a:rPr>
              <a:t>Infiltration </a:t>
            </a:r>
            <a:endParaRPr lang="en-US" sz="4800" dirty="0">
              <a:solidFill>
                <a:schemeClr val="bg1"/>
              </a:solidFill>
              <a:latin typeface="Arial" panose="020B0604020202020204" pitchFamily="34" charset="0"/>
              <a:cs typeface="Arial" panose="020B0604020202020204" pitchFamily="34" charset="0"/>
            </a:endParaRPr>
          </a:p>
        </p:txBody>
      </p:sp>
      <p:sp>
        <p:nvSpPr>
          <p:cNvPr id="6" name="Text 12">
            <a:extLst>
              <a:ext uri="{FF2B5EF4-FFF2-40B4-BE49-F238E27FC236}">
                <a16:creationId xmlns:a16="http://schemas.microsoft.com/office/drawing/2014/main" id="{76E14F46-D24A-31EC-7014-F75F283F3A8C}"/>
              </a:ext>
            </a:extLst>
          </p:cNvPr>
          <p:cNvSpPr/>
          <p:nvPr/>
        </p:nvSpPr>
        <p:spPr>
          <a:xfrm>
            <a:off x="1865233" y="2871148"/>
            <a:ext cx="10979910" cy="1423603"/>
          </a:xfrm>
          <a:prstGeom prst="rect">
            <a:avLst/>
          </a:prstGeom>
          <a:noFill/>
          <a:ln/>
        </p:spPr>
        <p:txBody>
          <a:bodyPr wrap="square" lIns="0" tIns="0" rIns="0" bIns="0" rtlCol="0" anchor="t"/>
          <a:lstStyle/>
          <a:p>
            <a:pPr>
              <a:lnSpc>
                <a:spcPct val="150000"/>
              </a:lnSpc>
            </a:pPr>
            <a:r>
              <a:rPr lang="vi-VN" dirty="0"/>
              <a:t>Infiltration là hành động kẻ tấn công vượt qua hàng rào phòng thủ của mạng hoặc hệ thống để có được chỗ đứng ban đầu (initial foothold) bên trong. Đây là bước chuyển từ một kẻ đứng ngoài quan sát sang một mối đe dọa nội bộ. Nó không chỉ đơn thuần là "đoán đúng mật khẩu", mà là khoảnh khắc kẻ tấn công đạt được khả năng thực thi lệnh hoặc kiểm soát một phần hệ thống của nạn nhân.</a:t>
            </a:r>
            <a:endParaRPr lang="en-US" sz="16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0140F593-7C31-94FA-2F14-CE2A836E50DD}"/>
              </a:ext>
            </a:extLst>
          </p:cNvPr>
          <p:cNvSpPr txBox="1"/>
          <p:nvPr/>
        </p:nvSpPr>
        <p:spPr>
          <a:xfrm>
            <a:off x="1825245" y="4759361"/>
            <a:ext cx="10979910" cy="1287532"/>
          </a:xfrm>
          <a:prstGeom prst="rect">
            <a:avLst/>
          </a:prstGeom>
          <a:noFill/>
        </p:spPr>
        <p:txBody>
          <a:bodyPr wrap="square">
            <a:spAutoFit/>
          </a:bodyPr>
          <a:lstStyle/>
          <a:p>
            <a:pPr algn="l">
              <a:lnSpc>
                <a:spcPct val="150000"/>
              </a:lnSpc>
              <a:spcBef>
                <a:spcPts val="1200"/>
              </a:spcBef>
              <a:spcAft>
                <a:spcPts val="1200"/>
              </a:spcAft>
            </a:pPr>
            <a:r>
              <a:rPr lang="vi-VN" i="0" dirty="0">
                <a:effectLst/>
                <a:latin typeface="Arial" panose="020B0604020202020204" pitchFamily="34" charset="0"/>
                <a:cs typeface="Arial" panose="020B0604020202020204" pitchFamily="34" charset="0"/>
              </a:rPr>
              <a:t>Vụ Target (2013): .Tin tặc đã gửi email phishing cho một nhà thầu HVAC (sưởi, thông gió, điều hòa) của Target. Sau khi chiếm được máy của nhà thầu, chúng dùng chính kết nối VPN hợp pháp này để xâm nhập vào mạng nội bộ của Target, cài đặt mã độc trên các máy POS và đánh cắp 40 triệu thẻ tín dụng.</a:t>
            </a:r>
          </a:p>
        </p:txBody>
      </p:sp>
      <p:sp>
        <p:nvSpPr>
          <p:cNvPr id="8" name="TextBox 7">
            <a:extLst>
              <a:ext uri="{FF2B5EF4-FFF2-40B4-BE49-F238E27FC236}">
                <a16:creationId xmlns:a16="http://schemas.microsoft.com/office/drawing/2014/main" id="{4D2E7BB4-6956-5BC6-D604-FE3F0EAD8A30}"/>
              </a:ext>
            </a:extLst>
          </p:cNvPr>
          <p:cNvSpPr txBox="1"/>
          <p:nvPr/>
        </p:nvSpPr>
        <p:spPr>
          <a:xfrm>
            <a:off x="1825245" y="6572877"/>
            <a:ext cx="9640967" cy="1200329"/>
          </a:xfrm>
          <a:prstGeom prst="rect">
            <a:avLst/>
          </a:prstGeom>
          <a:noFill/>
        </p:spPr>
        <p:txBody>
          <a:bodyPr wrap="square">
            <a:spAutoFit/>
          </a:bodyPr>
          <a:lstStyle/>
          <a:p>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vi-VN" b="0" i="0" dirty="0">
                <a:effectLst/>
                <a:latin typeface="Arial" panose="020B0604020202020204" pitchFamily="34" charset="0"/>
                <a:cs typeface="Arial" panose="020B0604020202020204" pitchFamily="34" charset="0"/>
              </a:rPr>
              <a:t>Kết nối định kỳ đến C&amp;C</a:t>
            </a:r>
            <a:r>
              <a:rPr lang="en-US" b="0" i="0" dirty="0">
                <a:effectLst/>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vi-VN" b="0" i="0" dirty="0">
                <a:effectLst/>
                <a:latin typeface="Arial" panose="020B0604020202020204" pitchFamily="34" charset="0"/>
                <a:cs typeface="Arial" panose="020B0604020202020204" pitchFamily="34" charset="0"/>
              </a:rPr>
              <a:t>Upload dữ liệu (exfiltration) vào thời điểm lạ (nửa đêm).</a:t>
            </a:r>
            <a:endParaRPr lang="en-US" b="0" i="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vi-VN" i="0" dirty="0">
                <a:effectLst/>
                <a:latin typeface="Arial" panose="020B0604020202020204" pitchFamily="34" charset="0"/>
                <a:cs typeface="Arial" panose="020B0604020202020204" pitchFamily="34" charset="0"/>
              </a:rPr>
              <a:t>Giao thức lẫn lộn: </a:t>
            </a:r>
            <a:r>
              <a:rPr lang="vi-VN" b="0" i="0" dirty="0">
                <a:effectLst/>
                <a:latin typeface="Arial" panose="020B0604020202020204" pitchFamily="34" charset="0"/>
                <a:cs typeface="Arial" panose="020B0604020202020204" pitchFamily="34" charset="0"/>
              </a:rPr>
              <a:t>DNS request bất thường, truy vấn dài, mã hóa base64 trong tên miền.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2526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a:extLst>
              <a:ext uri="{FF2B5EF4-FFF2-40B4-BE49-F238E27FC236}">
                <a16:creationId xmlns:a16="http://schemas.microsoft.com/office/drawing/2014/main" id="{A17FA098-7AA3-37D2-10CC-C7F2AAFCE7FD}"/>
              </a:ext>
            </a:extLst>
          </p:cNvPr>
          <p:cNvSpPr/>
          <p:nvPr/>
        </p:nvSpPr>
        <p:spPr>
          <a:xfrm>
            <a:off x="1676230" y="2841292"/>
            <a:ext cx="11136255" cy="2068473"/>
          </a:xfrm>
          <a:prstGeom prst="roundRect">
            <a:avLst>
              <a:gd name="adj" fmla="val 7073"/>
            </a:avLst>
          </a:prstGeom>
          <a:solidFill>
            <a:srgbClr val="FFFFFF"/>
          </a:solidFill>
          <a:ln w="30480">
            <a:solidFill>
              <a:srgbClr val="D8D4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5" name="Text 13">
            <a:extLst>
              <a:ext uri="{FF2B5EF4-FFF2-40B4-BE49-F238E27FC236}">
                <a16:creationId xmlns:a16="http://schemas.microsoft.com/office/drawing/2014/main" id="{5A33E92F-7EA9-142B-C2FF-88D989FF583D}"/>
              </a:ext>
            </a:extLst>
          </p:cNvPr>
          <p:cNvSpPr/>
          <p:nvPr/>
        </p:nvSpPr>
        <p:spPr>
          <a:xfrm>
            <a:off x="1221328" y="3806968"/>
            <a:ext cx="8221145" cy="1048223"/>
          </a:xfrm>
          <a:prstGeom prst="rect">
            <a:avLst/>
          </a:prstGeom>
          <a:noFill/>
          <a:ln/>
        </p:spPr>
        <p:txBody>
          <a:bodyPr wrap="square" lIns="0" tIns="0" rIns="0" bIns="0" rtlCol="0" anchor="t"/>
          <a:lstStyle/>
          <a:p>
            <a:pPr>
              <a:lnSpc>
                <a:spcPts val="1500"/>
              </a:lnSpc>
            </a:pPr>
            <a:endParaRPr lang="vi-V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D97098A-8F00-1E3F-D101-1B1F7B3AA89F}"/>
              </a:ext>
            </a:extLst>
          </p:cNvPr>
          <p:cNvSpPr txBox="1"/>
          <p:nvPr/>
        </p:nvSpPr>
        <p:spPr>
          <a:xfrm>
            <a:off x="2101030" y="2998365"/>
            <a:ext cx="10482856" cy="1703030"/>
          </a:xfrm>
          <a:prstGeom prst="rect">
            <a:avLst/>
          </a:prstGeom>
          <a:noFill/>
        </p:spPr>
        <p:txBody>
          <a:bodyPr wrap="square">
            <a:spAutoFit/>
          </a:bodyPr>
          <a:lstStyle/>
          <a:p>
            <a:pPr algn="l">
              <a:lnSpc>
                <a:spcPct val="150000"/>
              </a:lnSpc>
              <a:spcBef>
                <a:spcPts val="1200"/>
              </a:spcBef>
              <a:spcAft>
                <a:spcPts val="1200"/>
              </a:spcAft>
            </a:pPr>
            <a:r>
              <a:rPr lang="vi-VN" b="0" i="0" dirty="0">
                <a:effectLst/>
                <a:latin typeface="Arial" panose="020B0604020202020204" pitchFamily="34" charset="0"/>
                <a:cs typeface="Arial" panose="020B0604020202020204" pitchFamily="34" charset="0"/>
              </a:rPr>
              <a:t>Kẻ tấn công gửi một yêu cầu Heartbeat với chuỗi ký tự rất ngắn ("bird" - 4 byte) nhưng khai báo độ dài lớn (tối đa 65535 byte). Máy chủ cố gắng trả lại một gói tin có độ dài đúng như yêu cầu, dẫn đến việc nó gửi kèm thêm </a:t>
            </a:r>
            <a:r>
              <a:rPr lang="vi-VN" b="1" i="0" dirty="0">
                <a:effectLst/>
                <a:latin typeface="Arial" panose="020B0604020202020204" pitchFamily="34" charset="0"/>
                <a:cs typeface="Arial" panose="020B0604020202020204" pitchFamily="34" charset="0"/>
              </a:rPr>
              <a:t>tối đa 64KB dữ liệu ngẫu nhiên</a:t>
            </a:r>
            <a:r>
              <a:rPr lang="vi-VN" b="0" i="0" dirty="0">
                <a:effectLst/>
                <a:latin typeface="Arial" panose="020B0604020202020204" pitchFamily="34" charset="0"/>
                <a:cs typeface="Arial" panose="020B0604020202020204" pitchFamily="34" charset="0"/>
              </a:rPr>
              <a:t> từ bộ nhớ RAM ngay sau chuỗi gốc. Khối dữ liệu bị rò rỉ này có thể chứa bất kỳ thông tin nhạy cảm nào từng được xử lý qua OpenSSL.</a:t>
            </a:r>
          </a:p>
        </p:txBody>
      </p:sp>
      <p:sp>
        <p:nvSpPr>
          <p:cNvPr id="11" name="TextBox 10">
            <a:extLst>
              <a:ext uri="{FF2B5EF4-FFF2-40B4-BE49-F238E27FC236}">
                <a16:creationId xmlns:a16="http://schemas.microsoft.com/office/drawing/2014/main" id="{269F909E-2D2B-DD0A-E9C6-3CB713EABACA}"/>
              </a:ext>
            </a:extLst>
          </p:cNvPr>
          <p:cNvSpPr txBox="1"/>
          <p:nvPr/>
        </p:nvSpPr>
        <p:spPr>
          <a:xfrm>
            <a:off x="1469403" y="966311"/>
            <a:ext cx="7315200" cy="830997"/>
          </a:xfrm>
          <a:prstGeom prst="rect">
            <a:avLst/>
          </a:prstGeom>
          <a:noFill/>
        </p:spPr>
        <p:txBody>
          <a:bodyPr wrap="square">
            <a:spAutoFit/>
          </a:bodyPr>
          <a:lstStyle/>
          <a:p>
            <a:r>
              <a:rPr lang="en-US" sz="4800" dirty="0">
                <a:solidFill>
                  <a:schemeClr val="bg1"/>
                </a:solidFill>
                <a:latin typeface="Arial" panose="020B0604020202020204" pitchFamily="34" charset="0"/>
                <a:ea typeface="PT Serif" pitchFamily="34" charset="-122"/>
                <a:cs typeface="Arial" panose="020B0604020202020204" pitchFamily="34" charset="0"/>
              </a:rPr>
              <a:t>Heartbleed</a:t>
            </a:r>
            <a:endParaRPr lang="en-US" sz="4800" dirty="0">
              <a:solidFill>
                <a:schemeClr val="bg1"/>
              </a:solidFill>
              <a:latin typeface="Arial" panose="020B0604020202020204" pitchFamily="34" charset="0"/>
              <a:cs typeface="Arial" panose="020B0604020202020204" pitchFamily="34" charset="0"/>
            </a:endParaRPr>
          </a:p>
        </p:txBody>
      </p:sp>
      <p:sp>
        <p:nvSpPr>
          <p:cNvPr id="3" name="Shape 3">
            <a:extLst>
              <a:ext uri="{FF2B5EF4-FFF2-40B4-BE49-F238E27FC236}">
                <a16:creationId xmlns:a16="http://schemas.microsoft.com/office/drawing/2014/main" id="{E0FC71E3-DE35-072C-4B9D-AF0237F40B1D}"/>
              </a:ext>
            </a:extLst>
          </p:cNvPr>
          <p:cNvSpPr/>
          <p:nvPr/>
        </p:nvSpPr>
        <p:spPr>
          <a:xfrm>
            <a:off x="1637255" y="2841292"/>
            <a:ext cx="121920" cy="2068473"/>
          </a:xfrm>
          <a:prstGeom prst="roundRect">
            <a:avLst>
              <a:gd name="adj" fmla="val 27471"/>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
        <p:nvSpPr>
          <p:cNvPr id="16" name="Shape 2">
            <a:extLst>
              <a:ext uri="{FF2B5EF4-FFF2-40B4-BE49-F238E27FC236}">
                <a16:creationId xmlns:a16="http://schemas.microsoft.com/office/drawing/2014/main" id="{4F7D5BCE-B55D-3D89-35C4-EA0822C10FF9}"/>
              </a:ext>
            </a:extLst>
          </p:cNvPr>
          <p:cNvSpPr/>
          <p:nvPr/>
        </p:nvSpPr>
        <p:spPr>
          <a:xfrm>
            <a:off x="1676231" y="5050527"/>
            <a:ext cx="11136255" cy="1200329"/>
          </a:xfrm>
          <a:prstGeom prst="roundRect">
            <a:avLst>
              <a:gd name="adj" fmla="val 7073"/>
            </a:avLst>
          </a:prstGeom>
          <a:solidFill>
            <a:srgbClr val="FFFFFF"/>
          </a:solidFill>
          <a:ln w="30480">
            <a:solidFill>
              <a:srgbClr val="D8D4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17" name="Text 13">
            <a:extLst>
              <a:ext uri="{FF2B5EF4-FFF2-40B4-BE49-F238E27FC236}">
                <a16:creationId xmlns:a16="http://schemas.microsoft.com/office/drawing/2014/main" id="{4A950686-C62B-9B95-B0A4-3E0940CD5B85}"/>
              </a:ext>
            </a:extLst>
          </p:cNvPr>
          <p:cNvSpPr/>
          <p:nvPr/>
        </p:nvSpPr>
        <p:spPr>
          <a:xfrm>
            <a:off x="1221329" y="6016203"/>
            <a:ext cx="8221145" cy="1048223"/>
          </a:xfrm>
          <a:prstGeom prst="rect">
            <a:avLst/>
          </a:prstGeom>
          <a:noFill/>
          <a:ln/>
        </p:spPr>
        <p:txBody>
          <a:bodyPr wrap="square" lIns="0" tIns="0" rIns="0" bIns="0" rtlCol="0" anchor="t"/>
          <a:lstStyle/>
          <a:p>
            <a:pPr>
              <a:lnSpc>
                <a:spcPts val="1500"/>
              </a:lnSpc>
            </a:pPr>
            <a:endParaRPr lang="vi-VN"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1DF0A8B-761C-51C3-601B-48D6D3CE150F}"/>
              </a:ext>
            </a:extLst>
          </p:cNvPr>
          <p:cNvSpPr txBox="1"/>
          <p:nvPr/>
        </p:nvSpPr>
        <p:spPr>
          <a:xfrm>
            <a:off x="2046513" y="5207259"/>
            <a:ext cx="9993086" cy="1200329"/>
          </a:xfrm>
          <a:prstGeom prst="rect">
            <a:avLst/>
          </a:prstGeom>
          <a:noFill/>
        </p:spPr>
        <p:txBody>
          <a:bodyPr wrap="square" rtlCol="0">
            <a:spAutoFit/>
          </a:bodyPr>
          <a:lstStyle/>
          <a:p>
            <a:r>
              <a:rPr lang="vi-VN" dirty="0">
                <a:cs typeface="Arial" panose="020B0604020202020204" pitchFamily="34" charset="0"/>
              </a:rPr>
              <a:t>Vụ tấn công vào Cơ quan Thuế Canada (CRA) năm 2014. Vụ tấn công CRA (Canada): Một thiếu niên 19 tuổi đã khai thác Heartbleed để đánh cắp 900 số bảo hiểm xã hội từ Cơ quan Thuế vụ Canada, khiến trang web này phải đóng cửa nhiều ngày</a:t>
            </a:r>
          </a:p>
          <a:p>
            <a:endParaRPr lang="en-US" dirty="0"/>
          </a:p>
        </p:txBody>
      </p:sp>
      <p:sp>
        <p:nvSpPr>
          <p:cNvPr id="19" name="Shape 3">
            <a:extLst>
              <a:ext uri="{FF2B5EF4-FFF2-40B4-BE49-F238E27FC236}">
                <a16:creationId xmlns:a16="http://schemas.microsoft.com/office/drawing/2014/main" id="{9AD7677D-8D65-CB27-A603-E0AC4AC87910}"/>
              </a:ext>
            </a:extLst>
          </p:cNvPr>
          <p:cNvSpPr/>
          <p:nvPr/>
        </p:nvSpPr>
        <p:spPr>
          <a:xfrm>
            <a:off x="1637256" y="5050527"/>
            <a:ext cx="121920" cy="1200329"/>
          </a:xfrm>
          <a:prstGeom prst="roundRect">
            <a:avLst>
              <a:gd name="adj" fmla="val 27471"/>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
        <p:nvSpPr>
          <p:cNvPr id="20" name="Shape 2">
            <a:extLst>
              <a:ext uri="{FF2B5EF4-FFF2-40B4-BE49-F238E27FC236}">
                <a16:creationId xmlns:a16="http://schemas.microsoft.com/office/drawing/2014/main" id="{7C2F4DDB-EABA-7765-E499-BEB6681A9030}"/>
              </a:ext>
            </a:extLst>
          </p:cNvPr>
          <p:cNvSpPr/>
          <p:nvPr/>
        </p:nvSpPr>
        <p:spPr>
          <a:xfrm>
            <a:off x="1637255" y="6449719"/>
            <a:ext cx="11136255" cy="1200329"/>
          </a:xfrm>
          <a:prstGeom prst="roundRect">
            <a:avLst>
              <a:gd name="adj" fmla="val 7073"/>
            </a:avLst>
          </a:prstGeom>
          <a:solidFill>
            <a:srgbClr val="FFFFFF"/>
          </a:solidFill>
          <a:ln w="30480">
            <a:solidFill>
              <a:srgbClr val="D8D4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22" name="Shape 3">
            <a:extLst>
              <a:ext uri="{FF2B5EF4-FFF2-40B4-BE49-F238E27FC236}">
                <a16:creationId xmlns:a16="http://schemas.microsoft.com/office/drawing/2014/main" id="{FCC755C9-BCD8-A8B9-35CF-49237D009519}"/>
              </a:ext>
            </a:extLst>
          </p:cNvPr>
          <p:cNvSpPr/>
          <p:nvPr/>
        </p:nvSpPr>
        <p:spPr>
          <a:xfrm>
            <a:off x="1598280" y="6449719"/>
            <a:ext cx="121920" cy="1200329"/>
          </a:xfrm>
          <a:prstGeom prst="roundRect">
            <a:avLst>
              <a:gd name="adj" fmla="val 27471"/>
            </a:avLst>
          </a:prstGeom>
          <a:solidFill>
            <a:srgbClr val="E04F00"/>
          </a:solidFill>
          <a:ln/>
        </p:spPr>
        <p:txBody>
          <a:bodyPr/>
          <a:lstStyle/>
          <a:p>
            <a:endParaRPr lang="en-US">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6429E32-718E-E550-7826-E3A39F0084BA}"/>
              </a:ext>
            </a:extLst>
          </p:cNvPr>
          <p:cNvSpPr txBox="1"/>
          <p:nvPr/>
        </p:nvSpPr>
        <p:spPr>
          <a:xfrm>
            <a:off x="2046512" y="6686890"/>
            <a:ext cx="10145487" cy="646331"/>
          </a:xfrm>
          <a:prstGeom prst="rect">
            <a:avLst/>
          </a:prstGeom>
          <a:noFill/>
        </p:spPr>
        <p:txBody>
          <a:bodyPr wrap="square">
            <a:spAutoFit/>
          </a:bodyPr>
          <a:lstStyle/>
          <a:p>
            <a:r>
              <a:rPr lang="en-US" dirty="0" err="1">
                <a:latin typeface="Arial" panose="020B0604020202020204" pitchFamily="34" charset="0"/>
                <a:cs typeface="Arial" panose="020B0604020202020204" pitchFamily="34" charset="0"/>
              </a:rPr>
              <a:t>Dấu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b="0" i="0" dirty="0">
                <a:effectLst/>
                <a:latin typeface="Arial" panose="020B0604020202020204" pitchFamily="34" charset="0"/>
                <a:cs typeface="Arial" panose="020B0604020202020204" pitchFamily="34" charset="0"/>
              </a:rPr>
              <a:t>Server </a:t>
            </a:r>
            <a:r>
              <a:rPr lang="en-US" b="0" i="0" dirty="0" err="1">
                <a:effectLst/>
                <a:latin typeface="Arial" panose="020B0604020202020204" pitchFamily="34" charset="0"/>
                <a:cs typeface="Arial" panose="020B0604020202020204" pitchFamily="34" charset="0"/>
              </a:rPr>
              <a:t>trả</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về</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gói</a:t>
            </a:r>
            <a:r>
              <a:rPr lang="en-US" b="0" i="0" dirty="0">
                <a:effectLst/>
                <a:latin typeface="Arial" panose="020B0604020202020204" pitchFamily="34" charset="0"/>
                <a:cs typeface="Arial" panose="020B0604020202020204" pitchFamily="34" charset="0"/>
              </a:rPr>
              <a:t> tin Heartbeat Response </a:t>
            </a:r>
            <a:r>
              <a:rPr lang="en-US" b="0" i="0" dirty="0" err="1">
                <a:effectLst/>
                <a:latin typeface="Arial" panose="020B0604020202020204" pitchFamily="34" charset="0"/>
                <a:cs typeface="Arial" panose="020B0604020202020204" pitchFamily="34" charset="0"/>
              </a:rPr>
              <a:t>chứa</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một</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khối</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dữ</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liệu</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lớn</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lên</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đến</a:t>
            </a:r>
            <a:r>
              <a:rPr lang="en-US" b="0" i="0" dirty="0">
                <a:effectLst/>
                <a:latin typeface="Arial" panose="020B0604020202020204" pitchFamily="34" charset="0"/>
                <a:cs typeface="Arial" panose="020B0604020202020204" pitchFamily="34" charset="0"/>
              </a:rPr>
              <a:t> 64KB) </a:t>
            </a:r>
            <a:r>
              <a:rPr lang="en-US" b="0" i="0" dirty="0" err="1">
                <a:effectLst/>
                <a:latin typeface="Arial" panose="020B0604020202020204" pitchFamily="34" charset="0"/>
                <a:cs typeface="Arial" panose="020B0604020202020204" pitchFamily="34" charset="0"/>
              </a:rPr>
              <a:t>từ</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bộ</a:t>
            </a:r>
            <a:r>
              <a:rPr lang="en-US" b="0" i="0" dirty="0">
                <a:effectLst/>
                <a:latin typeface="Arial" panose="020B0604020202020204" pitchFamily="34" charset="0"/>
                <a:cs typeface="Arial" panose="020B0604020202020204" pitchFamily="34" charset="0"/>
              </a:rPr>
              <a:t> </a:t>
            </a:r>
            <a:r>
              <a:rPr lang="en-US" b="0" i="0" dirty="0" err="1">
                <a:effectLst/>
                <a:latin typeface="Arial" panose="020B0604020202020204" pitchFamily="34" charset="0"/>
                <a:cs typeface="Arial" panose="020B0604020202020204" pitchFamily="34" charset="0"/>
              </a:rPr>
              <a:t>nhớ</a:t>
            </a:r>
            <a:r>
              <a:rPr lang="en-US" b="0" i="0" dirty="0">
                <a:effectLst/>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793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4630400" cy="8229600"/>
            <a:chOff x="0" y="0"/>
            <a:chExt cx="12192000" cy="6858000"/>
          </a:xfrm>
        </p:grpSpPr>
        <p:sp>
          <p:nvSpPr>
            <p:cNvPr id="10" name="Rectangle 9">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6"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768582" y="2191294"/>
            <a:ext cx="3959288" cy="529109"/>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8" name="Freeform: Shape 27">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06357" y="-169039"/>
            <a:ext cx="7264404" cy="8567678"/>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0"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904"/>
            <a:ext cx="14630400" cy="8227696"/>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3" name="Text 0"/>
          <p:cNvSpPr/>
          <p:nvPr/>
        </p:nvSpPr>
        <p:spPr>
          <a:xfrm>
            <a:off x="1192904" y="1356723"/>
            <a:ext cx="4010930" cy="5516153"/>
          </a:xfrm>
          <a:prstGeom prst="rect">
            <a:avLst/>
          </a:prstGeom>
        </p:spPr>
        <p:txBody>
          <a:bodyPr vert="horz" lIns="91440" tIns="45720" rIns="91440" bIns="45720" rtlCol="0" anchor="ctr">
            <a:normAutofit/>
          </a:bodyPr>
          <a:lstStyle/>
          <a:p>
            <a:r>
              <a:rPr lang="vi-VN" sz="3200">
                <a:solidFill>
                  <a:srgbClr val="EBEBEB"/>
                </a:solidFill>
                <a:latin typeface="+mj-lt"/>
              </a:rPr>
              <a:t>IDS là gì?</a:t>
            </a:r>
          </a:p>
        </p:txBody>
      </p:sp>
      <p:sp>
        <p:nvSpPr>
          <p:cNvPr id="4" name="Text 1"/>
          <p:cNvSpPr/>
          <p:nvPr/>
        </p:nvSpPr>
        <p:spPr>
          <a:xfrm>
            <a:off x="6348092" y="525015"/>
            <a:ext cx="6603137" cy="7145190"/>
          </a:xfrm>
          <a:prstGeom prst="rect">
            <a:avLst/>
          </a:prstGeom>
        </p:spPr>
        <p:txBody>
          <a:bodyPr vert="horz" lIns="91440" tIns="45720" rIns="91440" bIns="45720" rtlCol="0" anchor="ctr">
            <a:normAutofit/>
          </a:bodyPr>
          <a:lstStyle/>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Intrusion Detection System (IDS) là hệ thống giám sát liên tục lưu lượng mạng, phát hiện các hành vi bất thường hoặc vi phạm chính sách bảo mật.</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IDS là lớp phòng thủ trong chiến lược Defense-in-Depth — không thay thế Firewall mà bổ sung khả năng phát hiện sau khi traffic đã đi qua.</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Khi phát hiện tấn công, IDS gửi cảnh báo đến Security Operations Center (SOC) để phân tích và phản ứng kịp thời.</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Phân biệt: IDS (phát hiện &amp; cảnh báo) vs IPS (phát hiện &amp; chặn tự động).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4630400" cy="8229600"/>
            <a:chOff x="0" y="0"/>
            <a:chExt cx="12192000" cy="6858000"/>
          </a:xfrm>
        </p:grpSpPr>
        <p:sp>
          <p:nvSpPr>
            <p:cNvPr id="10" name="Rectangle 9">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6"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768582" y="2191294"/>
            <a:ext cx="3959288" cy="529109"/>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8" name="Freeform: Shape 27">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06357" y="-169039"/>
            <a:ext cx="7264404" cy="8567678"/>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0"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904"/>
            <a:ext cx="14630400" cy="8227696"/>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3" name="Text 0"/>
          <p:cNvSpPr/>
          <p:nvPr/>
        </p:nvSpPr>
        <p:spPr>
          <a:xfrm>
            <a:off x="1192904" y="1356723"/>
            <a:ext cx="4010930" cy="5516153"/>
          </a:xfrm>
          <a:prstGeom prst="rect">
            <a:avLst/>
          </a:prstGeom>
        </p:spPr>
        <p:txBody>
          <a:bodyPr vert="horz" lIns="91440" tIns="45720" rIns="91440" bIns="45720" rtlCol="0" anchor="ctr">
            <a:normAutofit/>
          </a:bodyPr>
          <a:lstStyle/>
          <a:p>
            <a:r>
              <a:rPr lang="vi-VN" sz="3200">
                <a:solidFill>
                  <a:srgbClr val="EBEBEB"/>
                </a:solidFill>
                <a:latin typeface="+mj-lt"/>
              </a:rPr>
              <a:t>Các loại IDS truyền thống</a:t>
            </a:r>
          </a:p>
        </p:txBody>
      </p:sp>
      <p:sp>
        <p:nvSpPr>
          <p:cNvPr id="4" name="Text 1"/>
          <p:cNvSpPr/>
          <p:nvPr/>
        </p:nvSpPr>
        <p:spPr>
          <a:xfrm>
            <a:off x="6348092" y="525015"/>
            <a:ext cx="6603137" cy="7145190"/>
          </a:xfrm>
          <a:prstGeom prst="rect">
            <a:avLst/>
          </a:prstGeom>
        </p:spPr>
        <p:txBody>
          <a:bodyPr vert="horz" lIns="91440" tIns="45720" rIns="91440" bIns="45720" rtlCol="0" anchor="ctr">
            <a:normAutofit/>
          </a:bodyPr>
          <a:lstStyle/>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Signature-based IDS: so sánh traffic với cơ sở dữ liệu các mẫu tấn công đã biết (chữ ký - signature).</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Anomaly-based IDS: xây dựng mô hình hành vi "bình thường" và cảnh báo khi có độ lệch thống kê.</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Stateful Protocol Analysis: theo dõi trạng thái kết nối và so sánh với hành vi giao thức chuẩn (RFC).</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Phổ biến nhất là Signature-based, là nền tảng cho Snort, Suricata — hai công cụ IDS mã nguồn mở hàng đầu.</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4630400" cy="8229600"/>
            <a:chOff x="0" y="0"/>
            <a:chExt cx="12192000" cy="6858000"/>
          </a:xfrm>
        </p:grpSpPr>
        <p:sp>
          <p:nvSpPr>
            <p:cNvPr id="10" name="Rectangle 9">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6"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768582" y="2191294"/>
            <a:ext cx="3959288" cy="529109"/>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8" name="Freeform: Shape 27">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06357" y="-169039"/>
            <a:ext cx="7264404" cy="8567678"/>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0"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904"/>
            <a:ext cx="14630400" cy="8227696"/>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3" name="Text 0"/>
          <p:cNvSpPr/>
          <p:nvPr/>
        </p:nvSpPr>
        <p:spPr>
          <a:xfrm>
            <a:off x="1192904" y="1356723"/>
            <a:ext cx="4010930" cy="5516153"/>
          </a:xfrm>
          <a:prstGeom prst="rect">
            <a:avLst/>
          </a:prstGeom>
        </p:spPr>
        <p:txBody>
          <a:bodyPr vert="horz" lIns="91440" tIns="45720" rIns="91440" bIns="45720" rtlCol="0" anchor="ctr">
            <a:normAutofit/>
          </a:bodyPr>
          <a:lstStyle/>
          <a:p>
            <a:r>
              <a:rPr lang="vi-VN" sz="3200">
                <a:solidFill>
                  <a:srgbClr val="EBEBEB"/>
                </a:solidFill>
                <a:latin typeface="+mj-lt"/>
              </a:rPr>
              <a:t>Signature-based IDS</a:t>
            </a:r>
          </a:p>
        </p:txBody>
      </p:sp>
      <p:sp>
        <p:nvSpPr>
          <p:cNvPr id="4" name="Text 1"/>
          <p:cNvSpPr/>
          <p:nvPr/>
        </p:nvSpPr>
        <p:spPr>
          <a:xfrm>
            <a:off x="6348092" y="525015"/>
            <a:ext cx="6603137" cy="7145190"/>
          </a:xfrm>
          <a:prstGeom prst="rect">
            <a:avLst/>
          </a:prstGeom>
        </p:spPr>
        <p:txBody>
          <a:bodyPr vert="horz" lIns="91440" tIns="45720" rIns="91440" bIns="45720" rtlCol="0" anchor="ctr">
            <a:normAutofit/>
          </a:bodyPr>
          <a:lstStyle/>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Cơ chế: mỗi tấn công có "chữ ký" đặc trưng — payload Heartbleed, chuỗi SQL Injection, header bất thường SYN flood.</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Ưu điểm: Độ chính xác cao với tấn công đã biết — false positive rất thấp, ít làm phiền SOC.</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Ưu điểm: Dễ giải thích — rule dạng văn bản, SOC audit và chỉnh sửa trực tiếp được.</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Ưu điểm: Nhẹ về tài nguyên — chỉ cần so khớp chuỗi, phù hợp triển khai inline tốc độ cao.</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Ví dụ: Snort, Suricata với hàng triệu rule do cộng đồng bảo mật chia sẻ liên tục.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4630400" cy="8229600"/>
            <a:chOff x="0" y="0"/>
            <a:chExt cx="12192000" cy="6858000"/>
          </a:xfrm>
        </p:grpSpPr>
        <p:sp>
          <p:nvSpPr>
            <p:cNvPr id="10" name="Rectangle 9">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6"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768582" y="2191294"/>
            <a:ext cx="3959288" cy="529109"/>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8" name="Freeform: Shape 27">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06357" y="-169039"/>
            <a:ext cx="7264404" cy="8567678"/>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0"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904"/>
            <a:ext cx="14630400" cy="8227696"/>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3" name="Text 0"/>
          <p:cNvSpPr/>
          <p:nvPr/>
        </p:nvSpPr>
        <p:spPr>
          <a:xfrm>
            <a:off x="1192904" y="1356723"/>
            <a:ext cx="4010930" cy="5516153"/>
          </a:xfrm>
          <a:prstGeom prst="rect">
            <a:avLst/>
          </a:prstGeom>
        </p:spPr>
        <p:txBody>
          <a:bodyPr vert="horz" lIns="91440" tIns="45720" rIns="91440" bIns="45720" rtlCol="0" anchor="ctr">
            <a:normAutofit/>
          </a:bodyPr>
          <a:lstStyle/>
          <a:p>
            <a:r>
              <a:rPr lang="vi-VN" sz="3200">
                <a:solidFill>
                  <a:srgbClr val="EBEBEB"/>
                </a:solidFill>
                <a:latin typeface="+mj-lt"/>
              </a:rPr>
              <a:t>Anomaly-based IDS</a:t>
            </a:r>
          </a:p>
        </p:txBody>
      </p:sp>
      <p:sp>
        <p:nvSpPr>
          <p:cNvPr id="4" name="Text 1"/>
          <p:cNvSpPr/>
          <p:nvPr/>
        </p:nvSpPr>
        <p:spPr>
          <a:xfrm>
            <a:off x="6348092" y="525015"/>
            <a:ext cx="6603137" cy="7145190"/>
          </a:xfrm>
          <a:prstGeom prst="rect">
            <a:avLst/>
          </a:prstGeom>
        </p:spPr>
        <p:txBody>
          <a:bodyPr vert="horz" lIns="91440" tIns="45720" rIns="91440" bIns="45720" rtlCol="0" anchor="ctr">
            <a:normAutofit/>
          </a:bodyPr>
          <a:lstStyle/>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Cơ chế: học "baseline" hành vi bình thường, cảnh báo khi metric lệch khỏi ngưỡng (số kết nối, lưu lượng theo giờ, port hay dùng).</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Ưu điểm: Phát hiện được zero-day attack — không cần signature cho tấn công chưa từng thấy.</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Ưu điểm: Phát hiện insider threat — tấn công từ bên trong luôn tạo ra bất thường thống kê.</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Ưu điểm: Tự thích nghi — baseline cập nhật theo thời gian khi môi trường mạng thay đổi.</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Ví dụ: phát hiện máy tính đột ngột gửi 5GB dữ liệu lúc 3 giờ sáng — dấu hiệu data exfiltration.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4630400" cy="8229600"/>
            <a:chOff x="0" y="0"/>
            <a:chExt cx="12192000" cy="6858000"/>
          </a:xfrm>
        </p:grpSpPr>
        <p:sp>
          <p:nvSpPr>
            <p:cNvPr id="10" name="Rectangle 9">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6"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768582" y="2191294"/>
            <a:ext cx="3959288" cy="529109"/>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8" name="Freeform: Shape 27">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06357" y="-169039"/>
            <a:ext cx="7264404" cy="8567678"/>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0"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904"/>
            <a:ext cx="14630400" cy="8227696"/>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3" name="Text 0"/>
          <p:cNvSpPr/>
          <p:nvPr/>
        </p:nvSpPr>
        <p:spPr>
          <a:xfrm>
            <a:off x="1192904" y="1356723"/>
            <a:ext cx="4010930" cy="5516153"/>
          </a:xfrm>
          <a:prstGeom prst="rect">
            <a:avLst/>
          </a:prstGeom>
        </p:spPr>
        <p:txBody>
          <a:bodyPr vert="horz" lIns="91440" tIns="45720" rIns="91440" bIns="45720" rtlCol="0" anchor="ctr">
            <a:normAutofit/>
          </a:bodyPr>
          <a:lstStyle/>
          <a:p>
            <a:r>
              <a:rPr lang="vi-VN" sz="3200">
                <a:solidFill>
                  <a:srgbClr val="EBEBEB"/>
                </a:solidFill>
                <a:latin typeface="+mj-lt"/>
              </a:rPr>
              <a:t>Hạn chế của IDS truyền thống</a:t>
            </a:r>
          </a:p>
        </p:txBody>
      </p:sp>
      <p:sp>
        <p:nvSpPr>
          <p:cNvPr id="4" name="Text 1"/>
          <p:cNvSpPr/>
          <p:nvPr/>
        </p:nvSpPr>
        <p:spPr>
          <a:xfrm>
            <a:off x="6348092" y="525015"/>
            <a:ext cx="6603137" cy="7145190"/>
          </a:xfrm>
          <a:prstGeom prst="rect">
            <a:avLst/>
          </a:prstGeom>
        </p:spPr>
        <p:txBody>
          <a:bodyPr vert="horz" lIns="91440" tIns="45720" rIns="91440" bIns="45720" rtlCol="0" anchor="ctr">
            <a:normAutofit/>
          </a:bodyPr>
          <a:lstStyle/>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Signature-based mù với zero-day: chỉ bắt được tấn công đã có trong rule database. Biến thể nhỏ → bỏ sót hoàn toàn.</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Signature-based — bảo trì tốn kém: cần chuyên gia cập nhật hàng ngàn rule liên tục, rule lỗi thời nhanh chóng giảm hiệu quả.</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Anomaly-based — false positive quá nhiều: backup, cập nhật phần mềm đều kích hoạt cảnh báo → SOC mệt mỏi, bỏ qua cảnh báo thật.</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Anomaly-based — khó giải thích: cảnh báo "bất thường" nhưng không nói rõ loại tấn công → SOC mất nhiều thời gian phân loại.</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Cả hai đều gặp khó với traffic mã hóa TLS ngày càng phổ biến — payload-based signature gần như vô dụng.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4630400" cy="8229600"/>
            <a:chOff x="0" y="0"/>
            <a:chExt cx="12192000" cy="6858000"/>
          </a:xfrm>
        </p:grpSpPr>
        <p:sp>
          <p:nvSpPr>
            <p:cNvPr id="10" name="Rectangle 9">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 name="Rectangle 19">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6"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768582" y="2191294"/>
            <a:ext cx="3959288" cy="529109"/>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8" name="Freeform: Shape 27">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06357" y="-169039"/>
            <a:ext cx="7264404" cy="8567678"/>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0"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904"/>
            <a:ext cx="14630400" cy="8227696"/>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3" name="Text 0"/>
          <p:cNvSpPr/>
          <p:nvPr/>
        </p:nvSpPr>
        <p:spPr>
          <a:xfrm>
            <a:off x="1192904" y="1356723"/>
            <a:ext cx="4010930" cy="5516153"/>
          </a:xfrm>
          <a:prstGeom prst="rect">
            <a:avLst/>
          </a:prstGeom>
        </p:spPr>
        <p:txBody>
          <a:bodyPr vert="horz" lIns="91440" tIns="45720" rIns="91440" bIns="45720" rtlCol="0" anchor="ctr">
            <a:normAutofit/>
          </a:bodyPr>
          <a:lstStyle/>
          <a:p>
            <a:r>
              <a:rPr lang="vi-VN" sz="3200">
                <a:solidFill>
                  <a:srgbClr val="EBEBEB"/>
                </a:solidFill>
                <a:latin typeface="+mj-lt"/>
              </a:rPr>
              <a:t>IDS bằng Machine Learning — Giải pháp</a:t>
            </a:r>
          </a:p>
        </p:txBody>
      </p:sp>
      <p:sp>
        <p:nvSpPr>
          <p:cNvPr id="4" name="Text 1"/>
          <p:cNvSpPr/>
          <p:nvPr/>
        </p:nvSpPr>
        <p:spPr>
          <a:xfrm>
            <a:off x="6348092" y="525015"/>
            <a:ext cx="6603137" cy="7145190"/>
          </a:xfrm>
          <a:prstGeom prst="rect">
            <a:avLst/>
          </a:prstGeom>
        </p:spPr>
        <p:txBody>
          <a:bodyPr vert="horz" lIns="91440" tIns="45720" rIns="91440" bIns="45720" rtlCol="0" anchor="ctr">
            <a:normAutofit/>
          </a:bodyPr>
          <a:lstStyle/>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Học từ dữ liệu, không viết rule thủ công: model tự học đặc trưng từ hàng triệu flow có nhãn → không cần security expert viết signature.</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Tổng quát hóa tốt: phân loại dựa trên thống kê flow (IAT, byte count, TCP flag) → bắt được biến thể mới của tấn công đã biết.</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Phân loại đa lớp đồng thời: nhận diện DDoS, PortScan, Brute Force, Bot, Web Attack... trong một lần inference.</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False positive kiểm soát được: training với class_weight + SMOTE cân bằng recall/precision theo yêu cầu SOC.</a:t>
            </a:r>
          </a:p>
          <a:p>
            <a:pPr marL="0" indent="0">
              <a:spcBef>
                <a:spcPts val="600"/>
              </a:spcBef>
              <a:buClr>
                <a:schemeClr val="accent1"/>
              </a:buClr>
              <a:buSzPct val="80000"/>
              <a:buFont typeface="Wingdings 3" charset="2"/>
              <a:buChar char="佑"/>
            </a:pPr>
            <a:r>
              <a:rPr lang="vi-VN" sz="1800">
                <a:solidFill>
                  <a:schemeClr val="tx1">
                    <a:lumMod val="75000"/>
                    <a:lumOff val="25000"/>
                  </a:schemeClr>
                </a:solidFill>
              </a:rPr>
              <a:t>Tốc độ thực tế: LightGBM &gt;30,000 flows/giây trên CPU thông thường — đáp ứng inline detection.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180</TotalTime>
  <Words>1966</Words>
  <Application>Microsoft Macintosh PowerPoint</Application>
  <PresentationFormat>Custom</PresentationFormat>
  <Paragraphs>89</Paragraphs>
  <Slides>15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Wingdings 3</vt:lpstr>
      <vt:lpstr>Century Gothic</vt:lpstr>
      <vt:lpstr>Ion Boardroom</vt:lpstr>
      <vt:lpstr>Topic 1. AI-Powered Intrusion Detection System (IDS) using Machine Learning</vt:lpstr>
      <vt:lpstr>PowerPoint Presentation</vt:lpstr>
      <vt:lpstr>Các loại Network Traffic Attack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lastModifiedBy>CHU SỸ DUY</cp:lastModifiedBy>
  <cp:revision>7</cp:revision>
  <dcterms:created xsi:type="dcterms:W3CDTF">2026-04-24T14:21:39Z</dcterms:created>
  <dcterms:modified xsi:type="dcterms:W3CDTF">2026-04-25T02:41:16Z</dcterms:modified>
</cp:coreProperties>
</file>